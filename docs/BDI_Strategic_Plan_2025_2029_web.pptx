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0058400" cy="10058400"/>
  <p:notesSz cx="10058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A1A2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A1A2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A1A2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A1A2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A1A2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340652" y="9167398"/>
            <a:ext cx="662304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A1A2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katherina.hopkins@basadev.org" TargetMode="External"/><Relationship Id="rId3" Type="http://schemas.openxmlformats.org/officeDocument/2006/relationships/hyperlink" Target="http://www.basadev.org/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basadev.org/" TargetMode="External"/><Relationship Id="rId3" Type="http://schemas.openxmlformats.org/officeDocument/2006/relationships/hyperlink" Target="mailto:info@basadev.or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2949" y="1670385"/>
            <a:ext cx="3645535" cy="77216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490"/>
              </a:spcBef>
            </a:pPr>
            <a:r>
              <a:rPr dirty="0" sz="2000" spc="-60" b="1">
                <a:solidFill>
                  <a:srgbClr val="2C3E50"/>
                </a:solidFill>
                <a:latin typeface="Tahoma"/>
                <a:cs typeface="Tahoma"/>
              </a:rPr>
              <a:t>Strategic Plan</a:t>
            </a:r>
            <a:r>
              <a:rPr dirty="0" sz="2000" spc="-4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2000" spc="-145" b="1">
                <a:solidFill>
                  <a:srgbClr val="2C3E50"/>
                </a:solidFill>
                <a:latin typeface="Tahoma"/>
                <a:cs typeface="Tahoma"/>
              </a:rPr>
              <a:t>2025-</a:t>
            </a:r>
            <a:r>
              <a:rPr dirty="0" sz="2000" spc="-20" b="1">
                <a:solidFill>
                  <a:srgbClr val="2C3E50"/>
                </a:solidFill>
                <a:latin typeface="Tahoma"/>
                <a:cs typeface="Tahoma"/>
              </a:rPr>
              <a:t>2029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dirty="0" sz="1100" b="1">
                <a:solidFill>
                  <a:srgbClr val="EE0000"/>
                </a:solidFill>
                <a:latin typeface="Arial"/>
                <a:cs typeface="Arial"/>
              </a:rPr>
              <a:t>Empowering</a:t>
            </a:r>
            <a:r>
              <a:rPr dirty="0" sz="1100" spc="-25" b="1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E0000"/>
                </a:solidFill>
                <a:latin typeface="Arial"/>
                <a:cs typeface="Arial"/>
              </a:rPr>
              <a:t>Youth,</a:t>
            </a:r>
            <a:r>
              <a:rPr dirty="0" sz="1100" spc="-35" b="1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E0000"/>
                </a:solidFill>
                <a:latin typeface="Arial"/>
                <a:cs typeface="Arial"/>
              </a:rPr>
              <a:t>Women,</a:t>
            </a:r>
            <a:r>
              <a:rPr dirty="0" sz="1100" spc="-35" b="1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E0000"/>
                </a:solidFill>
                <a:latin typeface="Arial"/>
                <a:cs typeface="Arial"/>
              </a:rPr>
              <a:t>and</a:t>
            </a:r>
            <a:r>
              <a:rPr dirty="0" sz="1100" spc="-30" b="1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E0000"/>
                </a:solidFill>
                <a:latin typeface="Arial"/>
                <a:cs typeface="Arial"/>
              </a:rPr>
              <a:t>Communities</a:t>
            </a:r>
            <a:r>
              <a:rPr dirty="0" sz="1100" spc="-25" b="1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E0000"/>
                </a:solidFill>
                <a:latin typeface="Arial"/>
                <a:cs typeface="Arial"/>
              </a:rPr>
              <a:t>Across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3105" y="7709407"/>
            <a:ext cx="4004310" cy="1275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2C3E50"/>
                </a:solidFill>
                <a:latin typeface="Verdana"/>
                <a:cs typeface="Verdana"/>
              </a:rPr>
              <a:t>Prepared</a:t>
            </a:r>
            <a:r>
              <a:rPr dirty="0" sz="1100" spc="-25">
                <a:solidFill>
                  <a:srgbClr val="2C3E50"/>
                </a:solidFill>
                <a:latin typeface="Verdana"/>
                <a:cs typeface="Verdana"/>
              </a:rPr>
              <a:t> by:</a:t>
            </a:r>
            <a:endParaRPr sz="11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25"/>
              </a:spcBef>
            </a:pPr>
            <a:r>
              <a:rPr dirty="0" sz="1100" spc="-25" b="1">
                <a:solidFill>
                  <a:srgbClr val="1A1A2E"/>
                </a:solidFill>
                <a:latin typeface="Tahoma"/>
                <a:cs typeface="Tahoma"/>
              </a:rPr>
              <a:t>BASA</a:t>
            </a:r>
            <a:r>
              <a:rPr dirty="0" sz="1100" spc="-15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20" b="1">
                <a:solidFill>
                  <a:srgbClr val="1A1A2E"/>
                </a:solidFill>
                <a:latin typeface="Tahoma"/>
                <a:cs typeface="Tahoma"/>
              </a:rPr>
              <a:t>Development </a:t>
            </a:r>
            <a:r>
              <a:rPr dirty="0" sz="1100" spc="-10" b="1">
                <a:solidFill>
                  <a:srgbClr val="1A1A2E"/>
                </a:solidFill>
                <a:latin typeface="Tahoma"/>
                <a:cs typeface="Tahoma"/>
              </a:rPr>
              <a:t>Initiatives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000" spc="-35">
                <a:solidFill>
                  <a:srgbClr val="2C3E50"/>
                </a:solidFill>
                <a:latin typeface="Verdana"/>
                <a:cs typeface="Verdana"/>
                <a:hlinkClick r:id="rId2"/>
              </a:rPr>
              <a:t>katherina.hopkins@basadev.org</a:t>
            </a:r>
            <a:r>
              <a:rPr dirty="0" sz="1000" spc="5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220">
                <a:solidFill>
                  <a:srgbClr val="2C3E50"/>
                </a:solidFill>
                <a:latin typeface="Verdana"/>
                <a:cs typeface="Verdana"/>
              </a:rPr>
              <a:t>|</a:t>
            </a:r>
            <a:r>
              <a:rPr dirty="0" sz="1000" spc="7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2C3E50"/>
                </a:solidFill>
                <a:latin typeface="Verdana"/>
                <a:cs typeface="Verdana"/>
                <a:hlinkClick r:id="rId3"/>
              </a:rPr>
              <a:t>www.basadev.org</a:t>
            </a:r>
            <a:endParaRPr sz="1000">
              <a:latin typeface="Verdana"/>
              <a:cs typeface="Verdana"/>
            </a:endParaRPr>
          </a:p>
          <a:p>
            <a:pPr algn="ctr" marL="12700" marR="5080">
              <a:lnSpc>
                <a:spcPct val="102000"/>
              </a:lnSpc>
            </a:pPr>
            <a:r>
              <a:rPr dirty="0" sz="1000" spc="-105">
                <a:solidFill>
                  <a:srgbClr val="2C3E50"/>
                </a:solidFill>
                <a:latin typeface="Verdana"/>
                <a:cs typeface="Verdana"/>
              </a:rPr>
              <a:t>1st</a:t>
            </a:r>
            <a:r>
              <a:rPr dirty="0" sz="1000" spc="-5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60">
                <a:solidFill>
                  <a:srgbClr val="2C3E50"/>
                </a:solidFill>
                <a:latin typeface="Verdana"/>
                <a:cs typeface="Verdana"/>
              </a:rPr>
              <a:t>Floor,</a:t>
            </a:r>
            <a:r>
              <a:rPr dirty="0" sz="1000" spc="-3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2C3E50"/>
                </a:solidFill>
                <a:latin typeface="Verdana"/>
                <a:cs typeface="Verdana"/>
              </a:rPr>
              <a:t>Gausi</a:t>
            </a:r>
            <a:r>
              <a:rPr dirty="0" sz="1000" spc="-4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35">
                <a:solidFill>
                  <a:srgbClr val="2C3E50"/>
                </a:solidFill>
                <a:latin typeface="Verdana"/>
                <a:cs typeface="Verdana"/>
              </a:rPr>
              <a:t>Apartments,</a:t>
            </a:r>
            <a:r>
              <a:rPr dirty="0" sz="1000" spc="-4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60">
                <a:solidFill>
                  <a:srgbClr val="2C3E50"/>
                </a:solidFill>
                <a:latin typeface="Verdana"/>
                <a:cs typeface="Verdana"/>
              </a:rPr>
              <a:t>BASA</a:t>
            </a:r>
            <a:r>
              <a:rPr dirty="0" sz="1000" spc="-40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2C3E50"/>
                </a:solidFill>
                <a:latin typeface="Verdana"/>
                <a:cs typeface="Verdana"/>
              </a:rPr>
              <a:t>Avenue,</a:t>
            </a:r>
            <a:r>
              <a:rPr dirty="0" sz="1000" spc="-40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140">
                <a:solidFill>
                  <a:srgbClr val="2C3E50"/>
                </a:solidFill>
                <a:latin typeface="Verdana"/>
                <a:cs typeface="Verdana"/>
              </a:rPr>
              <a:t>LBS-</a:t>
            </a:r>
            <a:r>
              <a:rPr dirty="0" sz="1000" spc="-50">
                <a:solidFill>
                  <a:srgbClr val="2C3E50"/>
                </a:solidFill>
                <a:latin typeface="Verdana"/>
                <a:cs typeface="Verdana"/>
              </a:rPr>
              <a:t>ELWA </a:t>
            </a:r>
            <a:r>
              <a:rPr dirty="0" sz="1000" spc="-10">
                <a:solidFill>
                  <a:srgbClr val="2C3E50"/>
                </a:solidFill>
                <a:latin typeface="Verdana"/>
                <a:cs typeface="Verdana"/>
              </a:rPr>
              <a:t>Community </a:t>
            </a:r>
            <a:r>
              <a:rPr dirty="0" sz="1000" spc="-40">
                <a:solidFill>
                  <a:srgbClr val="2C3E50"/>
                </a:solidFill>
                <a:latin typeface="Verdana"/>
                <a:cs typeface="Verdana"/>
              </a:rPr>
              <a:t>Paynesville</a:t>
            </a:r>
            <a:r>
              <a:rPr dirty="0" sz="1000" spc="-2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40">
                <a:solidFill>
                  <a:srgbClr val="2C3E50"/>
                </a:solidFill>
                <a:latin typeface="Verdana"/>
                <a:cs typeface="Verdana"/>
              </a:rPr>
              <a:t>City,</a:t>
            </a:r>
            <a:r>
              <a:rPr dirty="0" sz="1000" spc="-10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2C3E50"/>
                </a:solidFill>
                <a:latin typeface="Verdana"/>
                <a:cs typeface="Verdana"/>
              </a:rPr>
              <a:t>Monrovia,</a:t>
            </a:r>
            <a:r>
              <a:rPr dirty="0" sz="1000" spc="-1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2C3E50"/>
                </a:solidFill>
                <a:latin typeface="Verdana"/>
                <a:cs typeface="Verdana"/>
              </a:rPr>
              <a:t>Liberia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000">
              <a:latin typeface="Verdana"/>
              <a:cs typeface="Verdana"/>
            </a:endParaRPr>
          </a:p>
          <a:p>
            <a:pPr marL="986155">
              <a:lnSpc>
                <a:spcPct val="100000"/>
              </a:lnSpc>
            </a:pPr>
            <a:r>
              <a:rPr dirty="0" sz="1100" spc="-35" b="1">
                <a:solidFill>
                  <a:srgbClr val="EE0000"/>
                </a:solidFill>
                <a:latin typeface="Tahoma"/>
                <a:cs typeface="Tahoma"/>
              </a:rPr>
              <a:t>Revised</a:t>
            </a:r>
            <a:r>
              <a:rPr dirty="0" sz="1100" spc="-30" b="1">
                <a:solidFill>
                  <a:srgbClr val="EE0000"/>
                </a:solidFill>
                <a:latin typeface="Tahoma"/>
                <a:cs typeface="Tahoma"/>
              </a:rPr>
              <a:t> </a:t>
            </a:r>
            <a:r>
              <a:rPr dirty="0" sz="1100" spc="-55" b="1">
                <a:solidFill>
                  <a:srgbClr val="EE0000"/>
                </a:solidFill>
                <a:latin typeface="Tahoma"/>
                <a:cs typeface="Tahoma"/>
              </a:rPr>
              <a:t>Edition</a:t>
            </a:r>
            <a:r>
              <a:rPr dirty="0" sz="1100" spc="-25" b="1">
                <a:solidFill>
                  <a:srgbClr val="EE0000"/>
                </a:solidFill>
                <a:latin typeface="Tahoma"/>
                <a:cs typeface="Tahoma"/>
              </a:rPr>
              <a:t> |January</a:t>
            </a:r>
            <a:r>
              <a:rPr dirty="0" sz="1100" spc="-15" b="1">
                <a:solidFill>
                  <a:srgbClr val="EE0000"/>
                </a:solidFill>
                <a:latin typeface="Tahoma"/>
                <a:cs typeface="Tahoma"/>
              </a:rPr>
              <a:t> </a:t>
            </a:r>
            <a:r>
              <a:rPr dirty="0" sz="1100" spc="-20" b="1">
                <a:solidFill>
                  <a:srgbClr val="EE0000"/>
                </a:solidFill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4670" y="708659"/>
            <a:ext cx="2345986" cy="7132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4188" y="2709672"/>
            <a:ext cx="4916424" cy="4759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167" y="429297"/>
            <a:ext cx="6146800" cy="8563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dirty="0" sz="1100">
                <a:solidFill>
                  <a:srgbClr val="EE0000"/>
                </a:solidFill>
                <a:latin typeface="Arial MT"/>
                <a:cs typeface="Arial MT"/>
              </a:rPr>
              <a:t>Table</a:t>
            </a:r>
            <a:r>
              <a:rPr dirty="0" sz="1100" spc="-15">
                <a:solidFill>
                  <a:srgbClr val="EE000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EE0000"/>
                </a:solidFill>
                <a:latin typeface="Arial MT"/>
                <a:cs typeface="Arial MT"/>
              </a:rPr>
              <a:t>of</a:t>
            </a:r>
            <a:r>
              <a:rPr dirty="0" sz="1100" spc="-15">
                <a:solidFill>
                  <a:srgbClr val="EE000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EE0000"/>
                </a:solidFill>
                <a:latin typeface="Arial MT"/>
                <a:cs typeface="Arial MT"/>
              </a:rPr>
              <a:t>Contents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Foreword</a:t>
            </a:r>
            <a:r>
              <a:rPr dirty="0" sz="1100" spc="14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from</a:t>
            </a:r>
            <a:r>
              <a:rPr dirty="0" sz="1100" spc="15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the</a:t>
            </a:r>
            <a:r>
              <a:rPr dirty="0" sz="1100" spc="13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Chief</a:t>
            </a:r>
            <a:r>
              <a:rPr dirty="0" sz="1100" spc="16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Executive</a:t>
            </a:r>
            <a:r>
              <a:rPr dirty="0" sz="1100" spc="15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Officer</a:t>
            </a:r>
            <a:r>
              <a:rPr dirty="0" sz="1100" spc="-5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......................................................................................5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15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About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Essence,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Vision,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Mission,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Values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................................................................6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3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3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Context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.....................................................................................................6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225">
                <a:solidFill>
                  <a:srgbClr val="1A1A2E"/>
                </a:solidFill>
                <a:latin typeface="Verdana"/>
                <a:cs typeface="Verdana"/>
              </a:rPr>
              <a:t>  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Outlook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2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Security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295">
                <a:solidFill>
                  <a:srgbClr val="1A1A2E"/>
                </a:solidFill>
                <a:latin typeface="Verdana"/>
                <a:cs typeface="Verdana"/>
              </a:rPr>
              <a:t>   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.........................................................................................................................................7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...................................................................................................................................7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Environment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.......................................................................................................................................8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3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Social</a:t>
            </a:r>
            <a:r>
              <a:rPr dirty="0" sz="1100" spc="3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....................................................................................................8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Alignment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National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Global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Frameworks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..................................................................8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Achievements: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2022-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2026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....................................................................................................8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Positioning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..............................................................................9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Serve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</a:t>
            </a:r>
            <a:r>
              <a:rPr dirty="0" sz="1100" spc="-17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Goals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Overview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</a:t>
            </a:r>
            <a:r>
              <a:rPr dirty="0" sz="1100" spc="-10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1: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Agribusiness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</a:t>
            </a:r>
            <a:r>
              <a:rPr dirty="0" sz="1100" spc="-15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2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2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</a:t>
            </a:r>
            <a:r>
              <a:rPr dirty="0" sz="1100" spc="-1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3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12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13</a:t>
            </a:r>
            <a:endParaRPr sz="1100">
              <a:latin typeface="Arial MT"/>
              <a:cs typeface="Arial MT"/>
            </a:endParaRPr>
          </a:p>
          <a:p>
            <a:pPr algn="r" marL="12700" marR="5080" indent="139700">
              <a:lnSpc>
                <a:spcPct val="140000"/>
              </a:lnSpc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13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14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2: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Nutrition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</a:t>
            </a:r>
            <a:r>
              <a:rPr dirty="0" sz="1100" spc="-15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15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18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2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3:</a:t>
            </a:r>
            <a:r>
              <a:rPr dirty="0" sz="1100" spc="2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</a:t>
            </a:r>
            <a:r>
              <a:rPr dirty="0" sz="1100" spc="-114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19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2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</a:t>
            </a:r>
            <a:r>
              <a:rPr dirty="0" sz="1100" spc="-10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19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</a:t>
            </a:r>
            <a:r>
              <a:rPr dirty="0" sz="1100" spc="-13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20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18402" y="9167398"/>
            <a:ext cx="545465" cy="182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167" y="429297"/>
            <a:ext cx="6146800" cy="8649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9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4: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Environment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Resilience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</a:t>
            </a:r>
            <a:r>
              <a:rPr dirty="0" sz="1100" spc="-1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</a:t>
            </a:r>
            <a:r>
              <a:rPr dirty="0" sz="1100" spc="-14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</a:t>
            </a:r>
            <a:r>
              <a:rPr dirty="0" sz="1100" spc="-13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24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25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25</a:t>
            </a:r>
            <a:endParaRPr sz="1100">
              <a:latin typeface="Arial MT"/>
              <a:cs typeface="Arial MT"/>
            </a:endParaRPr>
          </a:p>
          <a:p>
            <a:pPr algn="r" marL="12700" marR="5080" indent="139700">
              <a:lnSpc>
                <a:spcPct val="140000"/>
              </a:lnSpc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25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26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5: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Empowerment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27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25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27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40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29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3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29</a:t>
            </a:r>
            <a:endParaRPr sz="1100">
              <a:latin typeface="Arial MT"/>
              <a:cs typeface="Arial MT"/>
            </a:endParaRPr>
          </a:p>
          <a:p>
            <a:pPr algn="r" marL="12700" marR="5080" indent="139700">
              <a:lnSpc>
                <a:spcPct val="140000"/>
              </a:lnSpc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29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30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6: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</a:t>
            </a:r>
            <a:r>
              <a:rPr dirty="0" sz="1100" spc="-15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</a:t>
            </a:r>
            <a:r>
              <a:rPr dirty="0" sz="1100" spc="-16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</a:t>
            </a:r>
            <a:r>
              <a:rPr dirty="0" sz="1100" spc="-15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32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34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7: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</a:t>
            </a:r>
            <a:r>
              <a:rPr dirty="0" sz="1100" spc="-13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35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</a:t>
            </a:r>
            <a:r>
              <a:rPr dirty="0" sz="1100" spc="-14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35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</a:t>
            </a:r>
            <a:r>
              <a:rPr dirty="0" sz="1100" spc="-14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36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37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38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Cross-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Integration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</a:t>
            </a:r>
            <a:r>
              <a:rPr dirty="0" sz="1100" spc="-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39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8: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Partnership,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Research,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</a:t>
            </a:r>
            <a:r>
              <a:rPr dirty="0" sz="1100" spc="-17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40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Partnership,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&amp;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Summary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</a:t>
            </a:r>
            <a:r>
              <a:rPr dirty="0" sz="1100" spc="-17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40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Background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Rationale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42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</a:t>
            </a:r>
            <a:r>
              <a:rPr dirty="0" sz="1100" spc="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42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</a:t>
            </a:r>
            <a:r>
              <a:rPr dirty="0" sz="1100" spc="-16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42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100" spc="3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Cross-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Cutting</a:t>
            </a:r>
            <a:r>
              <a:rPr dirty="0" sz="1100" spc="4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Themes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</a:t>
            </a:r>
            <a:r>
              <a:rPr dirty="0" sz="1100" spc="-2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BDI’s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Alignment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SDGs</a:t>
            </a:r>
            <a:r>
              <a:rPr dirty="0" sz="1100" spc="-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</a:t>
            </a:r>
            <a:r>
              <a:rPr dirty="0" sz="1100" spc="-15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167" y="429297"/>
            <a:ext cx="6146800" cy="3484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9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Resource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Mobilization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Financial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Sustainability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</a:t>
            </a:r>
            <a:r>
              <a:rPr dirty="0" sz="1100" spc="-13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44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2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Funding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Diversification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Strategy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</a:t>
            </a:r>
            <a:r>
              <a:rPr dirty="0" sz="1100" spc="-8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44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30"/>
              </a:spcBef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Organizational</a:t>
            </a:r>
            <a:r>
              <a:rPr dirty="0" sz="1100" spc="2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Systems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</a:t>
            </a:r>
            <a:r>
              <a:rPr dirty="0" sz="1100" spc="-12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45</a:t>
            </a:r>
            <a:endParaRPr sz="1100">
              <a:latin typeface="Arial MT"/>
              <a:cs typeface="Arial MT"/>
            </a:endParaRPr>
          </a:p>
          <a:p>
            <a:pPr marL="308610" indent="-156210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308610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Governance</a:t>
            </a:r>
            <a:r>
              <a:rPr dirty="0" sz="1100" spc="3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Leadership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</a:t>
            </a:r>
            <a:r>
              <a:rPr dirty="0" sz="1100" spc="-7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45</a:t>
            </a:r>
            <a:endParaRPr sz="1100">
              <a:latin typeface="Arial MT"/>
              <a:cs typeface="Arial MT"/>
            </a:endParaRPr>
          </a:p>
          <a:p>
            <a:pPr marL="307975" indent="-15557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307975" algn="l"/>
              </a:tabLst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Human</a:t>
            </a:r>
            <a:r>
              <a:rPr dirty="0" sz="1100" spc="4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Resources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45</a:t>
            </a:r>
            <a:endParaRPr sz="1100">
              <a:latin typeface="Arial MT"/>
              <a:cs typeface="Arial MT"/>
            </a:endParaRPr>
          </a:p>
          <a:p>
            <a:pPr marL="307975" indent="-15557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307975" algn="l"/>
              </a:tabLst>
            </a:pP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Systems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Technology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9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45</a:t>
            </a:r>
            <a:endParaRPr sz="1100">
              <a:latin typeface="Arial MT"/>
              <a:cs typeface="Arial MT"/>
            </a:endParaRPr>
          </a:p>
          <a:p>
            <a:pPr algn="just" marL="12700" marR="5080" indent="295275">
              <a:lnSpc>
                <a:spcPct val="140000"/>
              </a:lnSpc>
              <a:buAutoNum type="arabicPeriod"/>
              <a:tabLst>
                <a:tab pos="307975" algn="l"/>
              </a:tabLst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Monitoring,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Evaluation,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Accountability,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(MEAL)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</a:t>
            </a:r>
            <a:r>
              <a:rPr dirty="0" sz="1100" spc="-6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45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.............................................................................................................................</a:t>
            </a:r>
            <a:r>
              <a:rPr dirty="0" sz="1100" spc="5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46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2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Accountability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</a:t>
            </a:r>
            <a:r>
              <a:rPr dirty="0" sz="1100" spc="-9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46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40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Overall</a:t>
            </a:r>
            <a:r>
              <a:rPr dirty="0" sz="1100" spc="4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Accountability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</a:t>
            </a:r>
            <a:r>
              <a:rPr dirty="0" sz="1100" spc="-1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46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30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Planning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Review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Cycle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</a:t>
            </a:r>
            <a:r>
              <a:rPr dirty="0" sz="1100" spc="-13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46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30"/>
              </a:spcBef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Staff</a:t>
            </a:r>
            <a:r>
              <a:rPr dirty="0" sz="1100" spc="4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Responsibility</a:t>
            </a:r>
            <a:r>
              <a:rPr dirty="0" sz="1100" spc="2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...................................................................................................................</a:t>
            </a:r>
            <a:r>
              <a:rPr dirty="0" sz="1100" spc="-5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46</a:t>
            </a:r>
            <a:endParaRPr sz="11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525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3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Accountability</a:t>
            </a:r>
            <a:r>
              <a:rPr dirty="0" sz="1100" spc="3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....................................................................................................</a:t>
            </a:r>
            <a:r>
              <a:rPr dirty="0" sz="1100" spc="-5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47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167" y="429297"/>
            <a:ext cx="6155690" cy="7367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solidFill>
                  <a:srgbClr val="C0392B"/>
                </a:solidFill>
                <a:latin typeface="Arial"/>
                <a:cs typeface="Arial"/>
              </a:rPr>
              <a:t>Foreword</a:t>
            </a:r>
            <a:r>
              <a:rPr dirty="0" sz="1600" spc="-35" b="1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C0392B"/>
                </a:solidFill>
                <a:latin typeface="Arial"/>
                <a:cs typeface="Arial"/>
              </a:rPr>
              <a:t>from</a:t>
            </a:r>
            <a:r>
              <a:rPr dirty="0" sz="1600" spc="-35" b="1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C0392B"/>
                </a:solidFill>
                <a:latin typeface="Arial"/>
                <a:cs typeface="Arial"/>
              </a:rPr>
              <a:t>the</a:t>
            </a:r>
            <a:r>
              <a:rPr dirty="0" sz="1600" spc="-35" b="1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C0392B"/>
                </a:solidFill>
                <a:latin typeface="Arial"/>
                <a:cs typeface="Arial"/>
              </a:rPr>
              <a:t>Chief</a:t>
            </a:r>
            <a:r>
              <a:rPr dirty="0" sz="1600" spc="-35" b="1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C0392B"/>
                </a:solidFill>
                <a:latin typeface="Arial"/>
                <a:cs typeface="Arial"/>
              </a:rPr>
              <a:t>Executive</a:t>
            </a:r>
            <a:r>
              <a:rPr dirty="0" sz="1600" spc="-35" b="1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Arial"/>
                <a:cs typeface="Arial"/>
              </a:rPr>
              <a:t>Officer</a:t>
            </a:r>
            <a:endParaRPr sz="1600">
              <a:latin typeface="Arial"/>
              <a:cs typeface="Arial"/>
            </a:endParaRPr>
          </a:p>
          <a:p>
            <a:pPr algn="just" marL="12700" marR="6350">
              <a:lnSpc>
                <a:spcPct val="102400"/>
              </a:lnSpc>
              <a:spcBef>
                <a:spcPts val="79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When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founded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BASA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Initiatives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(BDI),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did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so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simple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but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unshakeable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conviction: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Liberians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creativity,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courage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country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they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deserve.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What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they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often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lack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resources,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systems,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partners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truly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believe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them.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6350">
              <a:lnSpc>
                <a:spcPct val="102299"/>
              </a:lnSpc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updated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covering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2025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2029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more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than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management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document.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1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7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statement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are,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what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for,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how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intend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spend 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next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five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years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showing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up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entrusted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us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their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hopes.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5715">
              <a:lnSpc>
                <a:spcPct val="102400"/>
              </a:lnSpc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Over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past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three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years,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has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trained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more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than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600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farmers,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conducted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 spc="5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5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5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four</a:t>
            </a:r>
            <a:r>
              <a:rPr dirty="0" sz="1100" spc="5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counties,</a:t>
            </a:r>
            <a:r>
              <a:rPr dirty="0" sz="1100" spc="5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implemented</a:t>
            </a:r>
            <a:r>
              <a:rPr dirty="0" sz="1100" spc="5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 spc="5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conservation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programs,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expanded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maternal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outreach,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forged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meaningful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partnerships.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proud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foundation.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need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Liberia's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urban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slums,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villages,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classrooms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far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greater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than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anything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addressed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so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far.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499"/>
              </a:lnSpc>
            </a:pP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reflects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reality.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80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expands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programmatic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scope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include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aquaculture,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strengthens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commitment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inclusion,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deepens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on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empowerment,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aligns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efforts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ARREST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Agenda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Inclusive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2025-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2029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United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Nations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Goals (SDGs).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6985">
              <a:lnSpc>
                <a:spcPct val="102400"/>
              </a:lnSpc>
            </a:pP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especially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deliberate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about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leaving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one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behind.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remain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excluded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schools,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jobs,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public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spaces,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from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policies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designed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protect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them.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intends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that,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one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time.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5715">
              <a:lnSpc>
                <a:spcPct val="102699"/>
              </a:lnSpc>
            </a:pP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donors,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partners,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team: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thank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you.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built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trust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fueled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shared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belief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without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poverty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dream.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destination.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40" b="1">
                <a:solidFill>
                  <a:srgbClr val="1A1A2E"/>
                </a:solidFill>
                <a:latin typeface="Tahoma"/>
                <a:cs typeface="Tahoma"/>
              </a:rPr>
              <a:t>Katherina</a:t>
            </a:r>
            <a:r>
              <a:rPr dirty="0" sz="1100" spc="-35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1A1A2E"/>
                </a:solidFill>
                <a:latin typeface="Tahoma"/>
                <a:cs typeface="Tahoma"/>
              </a:rPr>
              <a:t>M.</a:t>
            </a:r>
            <a:r>
              <a:rPr dirty="0" sz="1100" spc="-35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A1A2E"/>
                </a:solidFill>
                <a:latin typeface="Tahoma"/>
                <a:cs typeface="Tahoma"/>
              </a:rPr>
              <a:t>Hopkins</a:t>
            </a:r>
            <a:endParaRPr sz="1100">
              <a:latin typeface="Tahoma"/>
              <a:cs typeface="Tahoma"/>
            </a:endParaRPr>
          </a:p>
          <a:p>
            <a:pPr marL="12700" marR="3672840">
              <a:lnSpc>
                <a:spcPct val="132700"/>
              </a:lnSpc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Founder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Chief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Executive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Officer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BASA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Initiatives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4672" y="1214627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0167" y="904697"/>
            <a:ext cx="6154420" cy="1460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About</a:t>
            </a:r>
            <a:r>
              <a:rPr dirty="0" sz="1600" spc="-6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215" b="1">
                <a:solidFill>
                  <a:srgbClr val="C0392B"/>
                </a:solidFill>
                <a:latin typeface="Tahoma"/>
                <a:cs typeface="Tahoma"/>
              </a:rPr>
              <a:t>BDI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-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Our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Essence,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55" b="1">
                <a:solidFill>
                  <a:srgbClr val="C0392B"/>
                </a:solidFill>
                <a:latin typeface="Tahoma"/>
                <a:cs typeface="Tahoma"/>
              </a:rPr>
              <a:t>Vision,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75" b="1">
                <a:solidFill>
                  <a:srgbClr val="C0392B"/>
                </a:solidFill>
                <a:latin typeface="Tahoma"/>
                <a:cs typeface="Tahoma"/>
              </a:rPr>
              <a:t>Mission,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Values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1270"/>
              </a:spcBef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BASA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Initiatives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(BDI)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legally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registered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501(C)3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Liberian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not-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for-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profit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non-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governmental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organization.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Formally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registered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2022,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9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was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founded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belief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must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driven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Liberians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themselves.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living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conditions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less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fortunate,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particular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focus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women,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youth,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farmers,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disabilities,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marginalized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wider African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continent.</a:t>
            </a:r>
            <a:endParaRPr sz="11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22959" y="2625851"/>
          <a:ext cx="6019800" cy="119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/>
                <a:gridCol w="2971800"/>
              </a:tblGrid>
              <a:tr h="119126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100" spc="-3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Our</a:t>
                      </a:r>
                      <a:r>
                        <a:rPr dirty="0" sz="1100" spc="-3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Vision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113664" marR="329565">
                        <a:lnSpc>
                          <a:spcPct val="101899"/>
                        </a:lnSpc>
                        <a:spcBef>
                          <a:spcPts val="400"/>
                        </a:spcBef>
                      </a:pPr>
                      <a:r>
                        <a:rPr dirty="0" sz="1050" spc="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Liberia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without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poverty,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where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development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1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impactful,</a:t>
                      </a:r>
                      <a:r>
                        <a:rPr dirty="0" sz="10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owned,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implemented</a:t>
                      </a:r>
                      <a:r>
                        <a:rPr dirty="0" sz="10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sz="10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Liberians.</a:t>
                      </a:r>
                      <a:endParaRPr sz="1050">
                        <a:latin typeface="Verdana"/>
                        <a:cs typeface="Verdana"/>
                      </a:endParaRPr>
                    </a:p>
                  </a:txBody>
                  <a:tcPr marL="0" marR="0" marB="0" marT="78105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100" spc="-3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Our</a:t>
                      </a:r>
                      <a:r>
                        <a:rPr dirty="0" sz="1100" spc="-3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Mission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76200" marR="194310">
                        <a:lnSpc>
                          <a:spcPct val="102099"/>
                        </a:lnSpc>
                        <a:spcBef>
                          <a:spcPts val="395"/>
                        </a:spcBef>
                      </a:pPr>
                      <a:r>
                        <a:rPr dirty="0" sz="1050" spc="-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empower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</a:t>
                      </a:r>
                      <a:r>
                        <a:rPr dirty="0" sz="10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Liberia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Africa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creating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sustainable 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opportunities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resources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that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lift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them out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poverty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drive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impactful, 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owned</a:t>
                      </a:r>
                      <a:r>
                        <a:rPr dirty="0" sz="1050" spc="1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development.</a:t>
                      </a:r>
                      <a:endParaRPr sz="1050">
                        <a:latin typeface="Verdana"/>
                        <a:cs typeface="Verdana"/>
                      </a:endParaRPr>
                    </a:p>
                  </a:txBody>
                  <a:tcPr marL="0" marR="0" marB="0" marT="78105">
                    <a:solidFill>
                      <a:srgbClr val="D5E8F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804672" y="8171688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0167" y="3932695"/>
            <a:ext cx="6154420" cy="504634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spc="-25" b="1">
                <a:solidFill>
                  <a:srgbClr val="1A1A2E"/>
                </a:solidFill>
                <a:latin typeface="Tahoma"/>
                <a:cs typeface="Tahoma"/>
              </a:rPr>
              <a:t>Our</a:t>
            </a:r>
            <a:r>
              <a:rPr dirty="0" sz="1200" spc="-10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1A1A2E"/>
                </a:solidFill>
                <a:latin typeface="Tahoma"/>
                <a:cs typeface="Tahoma"/>
              </a:rPr>
              <a:t>Core</a:t>
            </a:r>
            <a:r>
              <a:rPr dirty="0" sz="1200" spc="-10" b="1">
                <a:solidFill>
                  <a:srgbClr val="1A1A2E"/>
                </a:solidFill>
                <a:latin typeface="Tahoma"/>
                <a:cs typeface="Tahoma"/>
              </a:rPr>
              <a:t> Values</a:t>
            </a:r>
            <a:endParaRPr sz="1200">
              <a:latin typeface="Tahoma"/>
              <a:cs typeface="Tahoma"/>
            </a:endParaRPr>
          </a:p>
          <a:p>
            <a:pPr marL="12700" marR="5715">
              <a:lnSpc>
                <a:spcPct val="102699"/>
              </a:lnSpc>
              <a:spcBef>
                <a:spcPts val="400"/>
              </a:spcBef>
            </a:pP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anchored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seven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values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guide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every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decision,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partnership,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implement:</a:t>
            </a:r>
            <a:endParaRPr sz="1100">
              <a:latin typeface="Verdana"/>
              <a:cs typeface="Verdana"/>
            </a:endParaRPr>
          </a:p>
          <a:p>
            <a:pPr marL="354965" marR="294005" indent="-228600">
              <a:lnSpc>
                <a:spcPct val="101800"/>
              </a:lnSpc>
              <a:spcBef>
                <a:spcPts val="395"/>
              </a:spcBef>
              <a:buChar char="•"/>
              <a:tabLst>
                <a:tab pos="354965" algn="l"/>
              </a:tabLst>
            </a:pP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Integrity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uphold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honesty,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transparency,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accountability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actions,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ensuring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trust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credibility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every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relationship.</a:t>
            </a:r>
            <a:endParaRPr sz="1100">
              <a:latin typeface="Verdana"/>
              <a:cs typeface="Verdana"/>
            </a:endParaRPr>
          </a:p>
          <a:p>
            <a:pPr marL="354965" marR="266065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Empowerment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foster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self-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reliance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building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within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enabling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individuals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take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charge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their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own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development.</a:t>
            </a:r>
            <a:endParaRPr sz="1100">
              <a:latin typeface="Verdana"/>
              <a:cs typeface="Verdana"/>
            </a:endParaRPr>
          </a:p>
          <a:p>
            <a:pPr marL="354965" marR="7112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Inclusiveness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voices,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especially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those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marginalized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groups,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heard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respected,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promoting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equality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participation.</a:t>
            </a:r>
            <a:endParaRPr sz="1100">
              <a:latin typeface="Verdana"/>
              <a:cs typeface="Verdana"/>
            </a:endParaRPr>
          </a:p>
          <a:p>
            <a:pPr marL="354965" marR="34925" indent="-228600">
              <a:lnSpc>
                <a:spcPct val="102800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Love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People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Country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work with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genuine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passion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humanity.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desire to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living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conditions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Liberians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core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everything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do.</a:t>
            </a:r>
            <a:endParaRPr sz="1100">
              <a:latin typeface="Verdana"/>
              <a:cs typeface="Verdana"/>
            </a:endParaRPr>
          </a:p>
          <a:p>
            <a:pPr marL="354965" marR="262890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Sustainability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promote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practices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long-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environmental,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social,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viability,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safeguarding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future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generations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come.</a:t>
            </a:r>
            <a:endParaRPr sz="1100">
              <a:latin typeface="Verdana"/>
              <a:cs typeface="Verdana"/>
            </a:endParaRPr>
          </a:p>
          <a:p>
            <a:pPr marL="354965" marR="166370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Collaboration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strong partnerships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collectively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toward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common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goals,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multiplying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initiatives.</a:t>
            </a:r>
            <a:endParaRPr sz="1100">
              <a:latin typeface="Verdana"/>
              <a:cs typeface="Verdana"/>
            </a:endParaRPr>
          </a:p>
          <a:p>
            <a:pPr marL="354965" marR="215265" indent="-228600">
              <a:lnSpc>
                <a:spcPct val="1018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Innovation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encourage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creative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thinking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adoption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bold, evidence-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solutions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complex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challenges.</a:t>
            </a:r>
            <a:endParaRPr sz="1100">
              <a:latin typeface="Verdana"/>
              <a:cs typeface="Verdana"/>
            </a:endParaRPr>
          </a:p>
          <a:p>
            <a:pPr marL="354965" marR="167005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Professionalism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maintain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highest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standards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activities,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representing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communities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our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country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dignity.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00" spc="-70" b="1">
                <a:solidFill>
                  <a:srgbClr val="C0392B"/>
                </a:solidFill>
                <a:latin typeface="Tahoma"/>
                <a:cs typeface="Tahoma"/>
              </a:rPr>
              <a:t>Liberia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Development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Context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1275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meaningful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must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grounded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honest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reading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environment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seeks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 change.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landscape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2025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paradox: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rich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natural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resources,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resilient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people,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burdened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structural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inequalities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deeply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entrenched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167" y="429297"/>
            <a:ext cx="6155690" cy="8425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Economic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Outlook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605"/>
              </a:spcBef>
            </a:pP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economy</a:t>
            </a:r>
            <a:r>
              <a:rPr dirty="0" sz="1100" spc="2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grew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b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4.0%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2024,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driven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b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modest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improvements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mining,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services. Extreme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poverty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fell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26.4%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2024,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down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peak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40.9%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2022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meaningful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improvement,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though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far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sufficient.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Approximately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55.6%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population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continues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live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multidimensional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poverty,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experiencing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deprivation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health,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living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standards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simultaneously.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poverty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stands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81%,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starkly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contrasted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30%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urban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areas.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Inflation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averaged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8.3%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2024,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declining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10.1%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2023,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though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resurfaced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13.1%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early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2025,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placing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renewed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pressure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household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incomes.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Agriculture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Food</a:t>
            </a:r>
            <a:r>
              <a:rPr dirty="0" sz="1300" spc="-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Security</a:t>
            </a:r>
            <a:endParaRPr sz="1300">
              <a:latin typeface="Tahoma"/>
              <a:cs typeface="Tahoma"/>
            </a:endParaRPr>
          </a:p>
          <a:p>
            <a:pPr algn="just" marL="12700" marR="5715">
              <a:lnSpc>
                <a:spcPct val="102400"/>
              </a:lnSpc>
              <a:spcBef>
                <a:spcPts val="600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459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accounts</a:t>
            </a:r>
            <a:r>
              <a:rPr dirty="0" sz="1100" spc="4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459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nearly</a:t>
            </a:r>
            <a:r>
              <a:rPr dirty="0" sz="1100" spc="4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30%</a:t>
            </a:r>
            <a:r>
              <a:rPr dirty="0" sz="1100" spc="4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4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4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GDP</a:t>
            </a:r>
            <a:r>
              <a:rPr dirty="0" sz="1100" spc="459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provides</a:t>
            </a:r>
            <a:r>
              <a:rPr dirty="0" sz="1100" spc="459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livelihoods</a:t>
            </a:r>
            <a:r>
              <a:rPr dirty="0" sz="1100" spc="4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approximately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70%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workforce.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sector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characterized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b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subsistence-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level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farming,</a:t>
            </a:r>
            <a:r>
              <a:rPr dirty="0" sz="1100" spc="3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limited</a:t>
            </a:r>
            <a:r>
              <a:rPr dirty="0" sz="1100" spc="3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3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3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outdated</a:t>
            </a:r>
            <a:r>
              <a:rPr dirty="0" sz="1100" spc="3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practices,</a:t>
            </a:r>
            <a:r>
              <a:rPr dirty="0" sz="1100" spc="3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inadequate</a:t>
            </a:r>
            <a:r>
              <a:rPr dirty="0" sz="1100" spc="3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storage,</a:t>
            </a:r>
            <a:r>
              <a:rPr dirty="0" sz="1100" spc="3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poor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infrastructure.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Cassava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rice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remain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staples,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while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cash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crops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such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rubber,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oil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palm,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cocoa,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timber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drive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export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revenue.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Post-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harvest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losses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remain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critical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challenge,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'Hunger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Season'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six-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month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period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scarcity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continues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drive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malnutrition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households.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poses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existential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threat: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without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intervention,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could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shrink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economy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b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80">
                <a:solidFill>
                  <a:srgbClr val="1A1A2E"/>
                </a:solidFill>
                <a:latin typeface="Verdana"/>
                <a:cs typeface="Verdana"/>
              </a:rPr>
              <a:t>15%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push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1.3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million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more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people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poverty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2050.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Health</a:t>
            </a:r>
            <a:endParaRPr sz="1300">
              <a:latin typeface="Tahoma"/>
              <a:cs typeface="Tahoma"/>
            </a:endParaRPr>
          </a:p>
          <a:p>
            <a:pPr algn="just" marL="12700" marR="6350">
              <a:lnSpc>
                <a:spcPct val="102400"/>
              </a:lnSpc>
              <a:spcBef>
                <a:spcPts val="600"/>
              </a:spcBef>
            </a:pP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sector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continues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severe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workforce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shortages,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only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5,000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workers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approximately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51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Liberian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doctors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serving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population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over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5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million.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Maternal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mortality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highest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Africa,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adolescents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bearing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disproportionate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share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pregnancy-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related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deaths.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Out-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of-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pocket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expenditures push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vulnerable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households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deeper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health,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preventive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care,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child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nutrition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remain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critically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underfunded areas,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particularly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in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southeastern communities.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Education</a:t>
            </a:r>
            <a:endParaRPr sz="1300">
              <a:latin typeface="Tahoma"/>
              <a:cs typeface="Tahoma"/>
            </a:endParaRPr>
          </a:p>
          <a:p>
            <a:pPr algn="just" marL="12700" marR="5715">
              <a:lnSpc>
                <a:spcPct val="102299"/>
              </a:lnSpc>
              <a:spcBef>
                <a:spcPts val="600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Approximately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15%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20%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children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aged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6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14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remain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out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school.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rates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low,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particularly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girls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areas,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mean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years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schooling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remain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five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nationally.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technical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opportunities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inadequate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 prepare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shifting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labor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market.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largely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inaccessible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majority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students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teachers.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60" b="1">
                <a:solidFill>
                  <a:srgbClr val="2C3E50"/>
                </a:solidFill>
                <a:latin typeface="Tahoma"/>
                <a:cs typeface="Tahoma"/>
              </a:rPr>
              <a:t>Environment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Climate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99"/>
              </a:lnSpc>
              <a:spcBef>
                <a:spcPts val="595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holds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West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Africa's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largest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remaining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rainforest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reserves,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making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globally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significant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biodiversity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hotspot.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However,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deforestation,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unsustainable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land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use,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weak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environmental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governance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threaten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resource.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energy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limited,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national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electrification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at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approximately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15">
                <a:solidFill>
                  <a:srgbClr val="1A1A2E"/>
                </a:solidFill>
                <a:latin typeface="Verdana"/>
                <a:cs typeface="Verdana"/>
              </a:rPr>
              <a:t>34%.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cooking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solutions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unavailable to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vast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majority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households.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5718047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0167" y="429297"/>
            <a:ext cx="6155690" cy="860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Fisheries</a:t>
            </a:r>
            <a:endParaRPr sz="1300">
              <a:latin typeface="Tahoma"/>
              <a:cs typeface="Tahoma"/>
            </a:endParaRPr>
          </a:p>
          <a:p>
            <a:pPr algn="just" marL="12700" marR="6985">
              <a:lnSpc>
                <a:spcPct val="102299"/>
              </a:lnSpc>
              <a:spcBef>
                <a:spcPts val="605"/>
              </a:spcBef>
            </a:pP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570-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kilometer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coastline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inland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waterways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offer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significant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potential.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Artisanal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livelihood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coastal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communities,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particularly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who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dominate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processing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trade.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However,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overfishing,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poor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post-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harvest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handling,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limited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markets,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inadequate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equipment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constrain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sector's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contribution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security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growth.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Gender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Social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Inclusion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0"/>
              </a:spcBef>
            </a:pP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inequality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defining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feature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landscape.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24.9%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marry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before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age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18,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adolescent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birth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rates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exceed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130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per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1,000,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gender-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violence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reached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record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highs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2023.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make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up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over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60%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population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continue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systematic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barriers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participation,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leadership.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compounding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exclusion: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denied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employment,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public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buildings,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healthcare,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legal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protections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they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owed.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Alignment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2C3E50"/>
                </a:solidFill>
                <a:latin typeface="Tahoma"/>
                <a:cs typeface="Tahoma"/>
              </a:rPr>
              <a:t>with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National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 Global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Frameworks</a:t>
            </a:r>
            <a:endParaRPr sz="1300">
              <a:latin typeface="Tahoma"/>
              <a:cs typeface="Tahoma"/>
            </a:endParaRPr>
          </a:p>
          <a:p>
            <a:pPr algn="just" marL="12700" marR="6985">
              <a:lnSpc>
                <a:spcPct val="102400"/>
              </a:lnSpc>
              <a:spcBef>
                <a:spcPts val="605"/>
              </a:spcBef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deliberately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aligned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ARREST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Agenda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Inclusive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(2025-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2029),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which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focuses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Agriculture,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Roads,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Rule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Law,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Education,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Sanitation,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Tourism.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Our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programming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also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aligns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with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United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Nations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Sustainable Development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Goals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(SDGs),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African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Union's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Agenda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2063,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World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Bank's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Country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Partnership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Framework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Liberia.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alignment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positions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credible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implementing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partner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both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national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international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funders.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600" spc="-180" b="1">
                <a:solidFill>
                  <a:srgbClr val="C0392B"/>
                </a:solidFill>
                <a:latin typeface="Tahoma"/>
                <a:cs typeface="Tahoma"/>
              </a:rPr>
              <a:t>BDI's</a:t>
            </a:r>
            <a:r>
              <a:rPr dirty="0" sz="1600" spc="3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Achievements:</a:t>
            </a:r>
            <a:r>
              <a:rPr dirty="0" sz="1600" spc="1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C0392B"/>
                </a:solidFill>
                <a:latin typeface="Tahoma"/>
                <a:cs typeface="Tahoma"/>
              </a:rPr>
              <a:t>2022-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2026</a:t>
            </a:r>
            <a:endParaRPr sz="1600">
              <a:latin typeface="Tahoma"/>
              <a:cs typeface="Tahoma"/>
            </a:endParaRPr>
          </a:p>
          <a:p>
            <a:pPr algn="just" marL="12700" marR="6985">
              <a:lnSpc>
                <a:spcPct val="102299"/>
              </a:lnSpc>
              <a:spcBef>
                <a:spcPts val="1285"/>
              </a:spcBef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Since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beginning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formal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operations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2022,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has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built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track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record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demonstrates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both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 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commitment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 the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serve.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achievements include: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42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Trained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over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1600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students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teachers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10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schools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endParaRPr sz="1100">
              <a:latin typeface="Verdana"/>
              <a:cs typeface="Verdana"/>
            </a:endParaRPr>
          </a:p>
          <a:p>
            <a:pPr marL="354965" marR="826135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Planted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5000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trees,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mangroves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coconuts,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10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coastal communities</a:t>
            </a:r>
            <a:endParaRPr sz="1100">
              <a:latin typeface="Verdana"/>
              <a:cs typeface="Verdana"/>
            </a:endParaRPr>
          </a:p>
          <a:p>
            <a:pPr marL="354965" marR="76200" indent="-228600">
              <a:lnSpc>
                <a:spcPct val="102699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Established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10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clubs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within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10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schools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built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operational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1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waste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enterprise</a:t>
            </a:r>
            <a:endParaRPr sz="1100">
              <a:latin typeface="Verdana"/>
              <a:cs typeface="Verdana"/>
            </a:endParaRPr>
          </a:p>
          <a:p>
            <a:pPr marL="354965" marR="619125" indent="-228600">
              <a:lnSpc>
                <a:spcPct val="101800"/>
              </a:lnSpc>
              <a:spcBef>
                <a:spcPts val="30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Trained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over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600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farmers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farmer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cooperatives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agribusiness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climate-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smart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practices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multiple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counties.</a:t>
            </a:r>
            <a:endParaRPr sz="1100">
              <a:latin typeface="Verdana"/>
              <a:cs typeface="Verdana"/>
            </a:endParaRPr>
          </a:p>
          <a:p>
            <a:pPr marL="354965" marR="581025" indent="-228600">
              <a:lnSpc>
                <a:spcPct val="102299"/>
              </a:lnSpc>
              <a:spcBef>
                <a:spcPts val="30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Conducted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robust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4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Liberian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counties,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producing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actionable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recommendations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improving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smallholder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loans.</a:t>
            </a:r>
            <a:endParaRPr sz="1100">
              <a:latin typeface="Verdana"/>
              <a:cs typeface="Verdana"/>
            </a:endParaRPr>
          </a:p>
          <a:p>
            <a:pPr marL="354965" marR="591185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Implemented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12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conservation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awareness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campaigns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4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counties,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reaching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thousands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members.</a:t>
            </a:r>
            <a:endParaRPr sz="1100">
              <a:latin typeface="Verdana"/>
              <a:cs typeface="Verdana"/>
            </a:endParaRPr>
          </a:p>
          <a:p>
            <a:pPr marL="354965" marR="107950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Expanded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healthcare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health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initiatives,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outreach,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reaching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underserved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populations.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3332988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0167" y="429297"/>
            <a:ext cx="6155055" cy="393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900">
              <a:latin typeface="Arial MT"/>
              <a:cs typeface="Arial MT"/>
            </a:endParaRPr>
          </a:p>
          <a:p>
            <a:pPr marL="354965" marR="443865" indent="-228600">
              <a:lnSpc>
                <a:spcPct val="101800"/>
              </a:lnSpc>
              <a:buChar char="•"/>
              <a:tabLst>
                <a:tab pos="354965" algn="l"/>
              </a:tabLst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Supported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4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agribusinesses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facilitated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growth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2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farmer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cooperatives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targeted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business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support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services.</a:t>
            </a:r>
            <a:endParaRPr sz="1100">
              <a:latin typeface="Verdana"/>
              <a:cs typeface="Verdana"/>
            </a:endParaRPr>
          </a:p>
          <a:p>
            <a:pPr marL="354965" marR="540385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Established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strategic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partnerships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3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international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organizations,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National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Civil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Society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Council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NGO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Secretariat.</a:t>
            </a:r>
            <a:endParaRPr sz="1100">
              <a:latin typeface="Verdana"/>
              <a:cs typeface="Verdana"/>
            </a:endParaRPr>
          </a:p>
          <a:p>
            <a:pPr marL="354965" marR="252095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Generated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operating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research,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graphic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web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application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services,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advancing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social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enterprise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model.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699"/>
              </a:lnSpc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These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results,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achieved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average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budget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US$50,000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US$60,000,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reflect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both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efficiency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model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enormous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potential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greater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increased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resources.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Strategic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C0392B"/>
                </a:solidFill>
                <a:latin typeface="Tahoma"/>
                <a:cs typeface="Tahoma"/>
              </a:rPr>
              <a:t>Positioning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C0392B"/>
                </a:solidFill>
                <a:latin typeface="Tahoma"/>
                <a:cs typeface="Tahoma"/>
              </a:rPr>
              <a:t>Theory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35" b="1">
                <a:solidFill>
                  <a:srgbClr val="C0392B"/>
                </a:solidFill>
                <a:latin typeface="Tahoma"/>
                <a:cs typeface="Tahoma"/>
              </a:rPr>
              <a:t>of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Change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1270"/>
              </a:spcBef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competitive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advantage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lies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identity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Liberian-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led,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community-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rooted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organization.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Where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international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NGOs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often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struggle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navigate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context,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cultural nuances,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trust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deficits,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operates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inside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out.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understand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Liberia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as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outsiders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describing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problem,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Liberians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living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working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within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it.</a:t>
            </a: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430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theory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rests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three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interconnected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pillars: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22960" y="4623815"/>
            <a:ext cx="5943600" cy="1461770"/>
          </a:xfrm>
          <a:prstGeom prst="rect">
            <a:avLst/>
          </a:prstGeom>
          <a:solidFill>
            <a:srgbClr val="F0F4F8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2C3E50"/>
                </a:solidFill>
                <a:latin typeface="Tahoma"/>
                <a:cs typeface="Tahoma"/>
              </a:rPr>
              <a:t>1: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2C3E50"/>
                </a:solidFill>
                <a:latin typeface="Tahoma"/>
                <a:cs typeface="Tahoma"/>
              </a:rPr>
              <a:t>Integrated,</a:t>
            </a:r>
            <a:r>
              <a:rPr dirty="0" sz="12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70" b="1">
                <a:solidFill>
                  <a:srgbClr val="2C3E50"/>
                </a:solidFill>
                <a:latin typeface="Tahoma"/>
                <a:cs typeface="Tahoma"/>
              </a:rPr>
              <a:t>Multi-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Sector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Programming</a:t>
            </a:r>
            <a:endParaRPr sz="1200">
              <a:latin typeface="Tahoma"/>
              <a:cs typeface="Tahoma"/>
            </a:endParaRPr>
          </a:p>
          <a:p>
            <a:pPr marL="152400" marR="332105">
              <a:lnSpc>
                <a:spcPct val="102299"/>
              </a:lnSpc>
              <a:spcBef>
                <a:spcPts val="395"/>
              </a:spcBef>
            </a:pP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single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intervention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60">
                <a:solidFill>
                  <a:srgbClr val="1A1A2E"/>
                </a:solidFill>
                <a:latin typeface="Verdana"/>
                <a:cs typeface="Verdana"/>
              </a:rPr>
              <a:t>can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lift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out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6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farmer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receives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agribusiness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lacks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healthcare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clean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water,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or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market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her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produce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not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thrive.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intentionally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interconnected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3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agriculture </a:t>
            </a:r>
            <a:r>
              <a:rPr dirty="0" sz="1050" spc="-90">
                <a:solidFill>
                  <a:srgbClr val="1A1A2E"/>
                </a:solidFill>
                <a:latin typeface="Verdana"/>
                <a:cs typeface="Verdana"/>
              </a:rPr>
              <a:t>links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nutrition,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90">
                <a:solidFill>
                  <a:srgbClr val="1A1A2E"/>
                </a:solidFill>
                <a:latin typeface="Verdana"/>
                <a:cs typeface="Verdana"/>
              </a:rPr>
              <a:t>links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employment,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environment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95">
                <a:solidFill>
                  <a:srgbClr val="1A1A2E"/>
                </a:solidFill>
                <a:latin typeface="Verdana"/>
                <a:cs typeface="Verdana"/>
              </a:rPr>
              <a:t>links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food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security,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inclusion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95">
                <a:solidFill>
                  <a:srgbClr val="1A1A2E"/>
                </a:solidFill>
                <a:latin typeface="Verdana"/>
                <a:cs typeface="Verdana"/>
              </a:rPr>
              <a:t>links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everything.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address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whole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person,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not </a:t>
            </a:r>
            <a:r>
              <a:rPr dirty="0" sz="1050" spc="-100">
                <a:solidFill>
                  <a:srgbClr val="1A1A2E"/>
                </a:solidFill>
                <a:latin typeface="Verdana"/>
                <a:cs typeface="Verdana"/>
              </a:rPr>
              <a:t>just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presenting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problem.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960" y="6248400"/>
            <a:ext cx="5943600" cy="1297305"/>
          </a:xfrm>
          <a:prstGeom prst="rect">
            <a:avLst/>
          </a:prstGeom>
          <a:solidFill>
            <a:srgbClr val="FEF9E7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2C3E50"/>
                </a:solidFill>
                <a:latin typeface="Tahoma"/>
                <a:cs typeface="Tahoma"/>
              </a:rPr>
              <a:t>2: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Community-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Led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30" b="1">
                <a:solidFill>
                  <a:srgbClr val="2C3E50"/>
                </a:solidFill>
                <a:latin typeface="Tahoma"/>
                <a:cs typeface="Tahoma"/>
              </a:rPr>
              <a:t>Design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Implementation</a:t>
            </a:r>
            <a:endParaRPr sz="1200">
              <a:latin typeface="Tahoma"/>
              <a:cs typeface="Tahoma"/>
            </a:endParaRPr>
          </a:p>
          <a:p>
            <a:pPr marL="152400" marR="215900">
              <a:lnSpc>
                <a:spcPct val="102099"/>
              </a:lnSpc>
              <a:spcBef>
                <a:spcPts val="400"/>
              </a:spcBef>
            </a:pP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Every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implements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begins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with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comprehensive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scoping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assessments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consultations.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60">
                <a:solidFill>
                  <a:srgbClr val="1A1A2E"/>
                </a:solidFill>
                <a:latin typeface="Verdana"/>
                <a:cs typeface="Verdana"/>
              </a:rPr>
              <a:t>do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arrive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pre-</a:t>
            </a:r>
            <a:r>
              <a:rPr dirty="0" sz="1050" spc="50">
                <a:solidFill>
                  <a:srgbClr val="1A1A2E"/>
                </a:solidFill>
                <a:latin typeface="Verdana"/>
                <a:cs typeface="Verdana"/>
              </a:rPr>
              <a:t>packaged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solutions.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listen,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co-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then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implement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partners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3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beneficiaries.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This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ensures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relevance,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builds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local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ownership,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and produces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85">
                <a:solidFill>
                  <a:srgbClr val="1A1A2E"/>
                </a:solidFill>
                <a:latin typeface="Verdana"/>
                <a:cs typeface="Verdana"/>
              </a:rPr>
              <a:t>results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outlast the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project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cycle.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960" y="7693152"/>
            <a:ext cx="5943600" cy="1297305"/>
          </a:xfrm>
          <a:prstGeom prst="rect">
            <a:avLst/>
          </a:prstGeom>
          <a:solidFill>
            <a:srgbClr val="F0FFF4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2C3E50"/>
                </a:solidFill>
                <a:latin typeface="Tahoma"/>
                <a:cs typeface="Tahoma"/>
              </a:rPr>
              <a:t>3: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Evidence-Based</a:t>
            </a:r>
            <a:r>
              <a:rPr dirty="0" sz="12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Action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Adaptive</a:t>
            </a:r>
            <a:r>
              <a:rPr dirty="0" sz="12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Learning</a:t>
            </a:r>
            <a:endParaRPr sz="1200">
              <a:latin typeface="Tahoma"/>
              <a:cs typeface="Tahoma"/>
            </a:endParaRPr>
          </a:p>
          <a:p>
            <a:pPr marL="152400" marR="190500">
              <a:lnSpc>
                <a:spcPct val="102099"/>
              </a:lnSpc>
              <a:spcBef>
                <a:spcPts val="400"/>
              </a:spcBef>
            </a:pPr>
            <a:r>
              <a:rPr dirty="0" sz="105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committed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knowing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what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80">
                <a:solidFill>
                  <a:srgbClr val="1A1A2E"/>
                </a:solidFill>
                <a:latin typeface="Verdana"/>
                <a:cs typeface="Verdana"/>
              </a:rPr>
              <a:t>works.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invest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research,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monitoring,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evaluation,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continuously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80">
                <a:solidFill>
                  <a:srgbClr val="1A1A2E"/>
                </a:solidFill>
                <a:latin typeface="Verdana"/>
                <a:cs typeface="Verdana"/>
              </a:rPr>
              <a:t>assess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programming.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data-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driven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approach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ensures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resources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directed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they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produce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greatest impact,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55">
                <a:solidFill>
                  <a:srgbClr val="1A1A2E"/>
                </a:solidFill>
                <a:latin typeface="Verdana"/>
                <a:cs typeface="Verdana"/>
              </a:rPr>
              <a:t>can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communicate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that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credibly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donors,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partners,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and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policymakers.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4672" y="1214627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488594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167" y="904697"/>
            <a:ext cx="6154420" cy="4618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0" b="1">
                <a:solidFill>
                  <a:srgbClr val="C0392B"/>
                </a:solidFill>
                <a:latin typeface="Tahoma"/>
                <a:cs typeface="Tahoma"/>
              </a:rPr>
              <a:t>Where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C0392B"/>
                </a:solidFill>
                <a:latin typeface="Tahoma"/>
                <a:cs typeface="Tahoma"/>
              </a:rPr>
              <a:t>We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C0392B"/>
                </a:solidFill>
                <a:latin typeface="Tahoma"/>
                <a:cs typeface="Tahoma"/>
              </a:rPr>
              <a:t>Work</a:t>
            </a:r>
            <a:r>
              <a:rPr dirty="0" sz="1600" spc="-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C0392B"/>
                </a:solidFill>
                <a:latin typeface="Tahoma"/>
                <a:cs typeface="Tahoma"/>
              </a:rPr>
              <a:t>Who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We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Serve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1270"/>
              </a:spcBef>
            </a:pPr>
            <a:r>
              <a:rPr dirty="0" sz="1100" spc="-18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works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with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particular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focus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Southeast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region,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remains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country's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least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developed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underserved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area.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maintain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Southeast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office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Greenville,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Sinoe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County,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satellite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office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Bong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central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northern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coverage,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headquarters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Monrovia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coordinate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national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international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partnerships.</a:t>
            </a: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primary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target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populations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include:</a:t>
            </a:r>
            <a:endParaRPr sz="1100">
              <a:latin typeface="Verdana"/>
              <a:cs typeface="Verdana"/>
            </a:endParaRPr>
          </a:p>
          <a:p>
            <a:pPr marL="354965" marR="102235" indent="-228600">
              <a:lnSpc>
                <a:spcPct val="102800"/>
              </a:lnSpc>
              <a:spcBef>
                <a:spcPts val="37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age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35,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with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focus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making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agribusiness,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training,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entrepreneurship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aspirational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accessible.</a:t>
            </a:r>
            <a:endParaRPr sz="1100">
              <a:latin typeface="Verdana"/>
              <a:cs typeface="Verdana"/>
            </a:endParaRPr>
          </a:p>
          <a:p>
            <a:pPr marL="354965" marR="108585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girls,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particularly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relation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entrepreneurship,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maternal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newborn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health,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hygiene,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protection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gender-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violence.</a:t>
            </a:r>
            <a:endParaRPr sz="1100">
              <a:latin typeface="Verdana"/>
              <a:cs typeface="Verdana"/>
            </a:endParaRPr>
          </a:p>
          <a:p>
            <a:pPr marL="354965" marR="295910" indent="-228600">
              <a:lnSpc>
                <a:spcPct val="101899"/>
              </a:lnSpc>
              <a:spcBef>
                <a:spcPts val="29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Smallholder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farmers,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farmer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cooperatives,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agribusinesses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seeking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transition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subsistence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commercial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production.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4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Artisanal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fishers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processors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riverine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communities.</a:t>
            </a:r>
            <a:endParaRPr sz="1100">
              <a:latin typeface="Verdana"/>
              <a:cs typeface="Verdana"/>
            </a:endParaRPr>
          </a:p>
          <a:p>
            <a:pPr marL="354965" marR="187325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Persons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disabilities,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systemic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exclusion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employment, healthcare,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civic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life.</a:t>
            </a:r>
            <a:endParaRPr sz="1100">
              <a:latin typeface="Verdana"/>
              <a:cs typeface="Verdana"/>
            </a:endParaRPr>
          </a:p>
          <a:p>
            <a:pPr marL="354965" marR="824865" indent="-228600">
              <a:lnSpc>
                <a:spcPct val="101899"/>
              </a:lnSpc>
              <a:spcBef>
                <a:spcPts val="309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Marginalized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remote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Southeast,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urban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slums,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and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environmentally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vulnerable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areas.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Strategic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Goals</a:t>
            </a:r>
            <a:r>
              <a:rPr dirty="0" sz="1600" spc="-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Overview</a:t>
            </a:r>
            <a:endParaRPr sz="1600">
              <a:latin typeface="Tahoma"/>
              <a:cs typeface="Tahoma"/>
            </a:endParaRPr>
          </a:p>
          <a:p>
            <a:pPr algn="just" marL="12700" marR="5715">
              <a:lnSpc>
                <a:spcPct val="102699"/>
              </a:lnSpc>
              <a:spcBef>
                <a:spcPts val="1255"/>
              </a:spcBef>
            </a:pP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2025-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2029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6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organized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around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four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institutional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goals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eight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areas.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institutional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goals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provide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structural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foundation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for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everything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while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areas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define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thematic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22959" y="5785103"/>
          <a:ext cx="6026150" cy="258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/>
                <a:gridCol w="4674235"/>
              </a:tblGrid>
              <a:tr h="2876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Goal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60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60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0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Goal</a:t>
                      </a:r>
                      <a:r>
                        <a:rPr dirty="0" sz="1000" spc="9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One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206375">
                        <a:lnSpc>
                          <a:spcPct val="102000"/>
                        </a:lnSpc>
                        <a:spcBef>
                          <a:spcPts val="415"/>
                        </a:spcBef>
                      </a:pP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Empower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Youth,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Women,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Communities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Overcome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Poverty </a:t>
                      </a:r>
                      <a:r>
                        <a:rPr dirty="0" sz="100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Integrated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agriculture,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health,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education,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environment,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fisheries,</a:t>
                      </a:r>
                      <a:r>
                        <a:rPr dirty="0" sz="100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empowerment,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 </a:t>
                      </a:r>
                      <a:r>
                        <a:rPr dirty="0" sz="100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</a:t>
                      </a:r>
                      <a:r>
                        <a:rPr dirty="0" sz="100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0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Goal</a:t>
                      </a:r>
                      <a:r>
                        <a:rPr dirty="0" sz="1000" spc="9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Two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165100">
                        <a:lnSpc>
                          <a:spcPct val="102000"/>
                        </a:lnSpc>
                        <a:spcBef>
                          <a:spcPts val="405"/>
                        </a:spcBef>
                      </a:pPr>
                      <a:r>
                        <a:rPr dirty="0" sz="100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100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</a:t>
                      </a:r>
                      <a:r>
                        <a:rPr dirty="0" sz="100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Mobilization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Financial</a:t>
                      </a:r>
                      <a:r>
                        <a:rPr dirty="0" sz="100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Sustainability</a:t>
                      </a:r>
                      <a:r>
                        <a:rPr dirty="0" sz="100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100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diversified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funding,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social</a:t>
                      </a:r>
                      <a:r>
                        <a:rPr dirty="0" sz="100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enterprise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development,</a:t>
                      </a:r>
                      <a:r>
                        <a:rPr dirty="0" sz="100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multi-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donor partnerships.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0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Goal</a:t>
                      </a:r>
                      <a:r>
                        <a:rPr dirty="0" sz="1000" spc="9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Three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30175">
                        <a:lnSpc>
                          <a:spcPct val="102499"/>
                        </a:lnSpc>
                        <a:spcBef>
                          <a:spcPts val="395"/>
                        </a:spcBef>
                      </a:pPr>
                      <a:r>
                        <a:rPr dirty="0" sz="100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100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Organizational</a:t>
                      </a:r>
                      <a:r>
                        <a:rPr dirty="0" sz="100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9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r>
                        <a:rPr dirty="0" sz="100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0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Institutional</a:t>
                      </a:r>
                      <a:r>
                        <a:rPr dirty="0" sz="100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</a:t>
                      </a:r>
                      <a:r>
                        <a:rPr dirty="0" sz="100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including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governance,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human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resources,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dirty="0" sz="100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management,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monitoring</a:t>
                      </a:r>
                      <a:r>
                        <a:rPr dirty="0" sz="100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evaluation.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59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00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Goal</a:t>
                      </a:r>
                      <a:r>
                        <a:rPr dirty="0" sz="1000" spc="9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Four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587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567690">
                        <a:lnSpc>
                          <a:spcPct val="102000"/>
                        </a:lnSpc>
                        <a:spcBef>
                          <a:spcPts val="415"/>
                        </a:spcBef>
                      </a:pP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Deepen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Engagement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Strategic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r>
                        <a:rPr dirty="0" sz="100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 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government, </a:t>
                      </a:r>
                      <a:r>
                        <a:rPr dirty="0" sz="100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civil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society,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private</a:t>
                      </a:r>
                      <a:r>
                        <a:rPr dirty="0" sz="100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sector,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00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international organizations.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1042416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3"/>
                </a:lnTo>
                <a:lnTo>
                  <a:pt x="8266176" y="9143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733984"/>
            <a:ext cx="8258175" cy="1471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1: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Agriculture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Agribusiness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Agriculture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0"/>
              </a:spcBef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infographic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provides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consolidated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overview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capturing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core rationale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overarching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full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set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measurable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targets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guide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implementation,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six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strategic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2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engage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farmers,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cooperatives,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systems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vulnerable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rural communities.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264664"/>
            <a:ext cx="8235696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258175" cy="126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Agriculture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maps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causal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logic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underpinning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illustrating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pathway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 organizational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inputs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field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activities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1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deploy,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direct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outputs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measurable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outcomes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produce,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more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food-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secure,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economically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resilient,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poverty-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reduced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which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smallholder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farming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viable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dignified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livelihood.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7104888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3"/>
                </a:lnTo>
                <a:lnTo>
                  <a:pt x="8266176" y="9143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063" y="1825751"/>
            <a:ext cx="8235696" cy="4495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35619" y="6882941"/>
            <a:ext cx="622935" cy="182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12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456110"/>
            <a:ext cx="6155690" cy="287718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19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59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3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3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backbone</a:t>
            </a:r>
            <a:r>
              <a:rPr dirty="0" sz="1100" spc="3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3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3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economy</a:t>
            </a:r>
            <a:r>
              <a:rPr dirty="0" sz="1100" spc="3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3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livelihood</a:t>
            </a:r>
            <a:r>
              <a:rPr dirty="0" sz="1100" spc="3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approximately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90">
                <a:solidFill>
                  <a:srgbClr val="1A1A2E"/>
                </a:solidFill>
                <a:latin typeface="Verdana"/>
                <a:cs typeface="Verdana"/>
              </a:rPr>
              <a:t>70%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 the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workforce.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sector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trapped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low-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productivity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cycles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driven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subsistence-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level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farming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practices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locally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referred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'Hand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Mouth,'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limited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vulnerability,</a:t>
            </a:r>
            <a:r>
              <a:rPr dirty="0" sz="1100" spc="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inadequate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options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smallholder farmers.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More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than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64%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Liberian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historically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been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reluctant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enter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agriculture,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viewing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low-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status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uneconomical.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designed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narrative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transforming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farming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survival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strategy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commercially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viable,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dignified,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climate-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resilient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enterprise.</a:t>
            </a: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400"/>
              </a:lnSpc>
              <a:spcBef>
                <a:spcPts val="39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focuses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full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agricultural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value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chain: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production,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processing,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commercialization.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integrating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climate-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smart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practices,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linkages,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cooperative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strengthening,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inputs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financing,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8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seeks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to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agricultural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sector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creates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jobs,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reduces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hunger,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generates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wealth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3400044"/>
            <a:ext cx="5943600" cy="969644"/>
          </a:xfrm>
          <a:prstGeom prst="rect">
            <a:avLst/>
          </a:prstGeom>
          <a:solidFill>
            <a:srgbClr val="F0F4F8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(AG1)</a:t>
            </a:r>
            <a:endParaRPr sz="1200">
              <a:latin typeface="Tahoma"/>
              <a:cs typeface="Tahoma"/>
            </a:endParaRPr>
          </a:p>
          <a:p>
            <a:pPr marL="152400" marR="600075">
              <a:lnSpc>
                <a:spcPct val="101899"/>
              </a:lnSpc>
              <a:spcBef>
                <a:spcPts val="400"/>
              </a:spcBef>
            </a:pP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smallholder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farmers'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productivity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resilience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climate-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smart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agriculture,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target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85">
                <a:solidFill>
                  <a:srgbClr val="1A1A2E"/>
                </a:solidFill>
                <a:latin typeface="Verdana"/>
                <a:cs typeface="Verdana"/>
              </a:rPr>
              <a:t>+20%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increase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average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crop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yields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end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plan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period.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4536478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826508"/>
          <a:ext cx="6026150" cy="399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650"/>
                <a:gridCol w="715010"/>
                <a:gridCol w="1663064"/>
                <a:gridCol w="1123314"/>
                <a:gridCol w="909955"/>
                <a:gridCol w="1031875"/>
              </a:tblGrid>
              <a:tr h="24637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620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Improve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smallholder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productivity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resilience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climate-smart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agriculture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652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crop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yields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82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+20%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9240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climate-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smart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agriculture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practices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techniques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4222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5303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1,500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3500" marR="182880">
                        <a:lnSpc>
                          <a:spcPct val="101699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improved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seeds,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tools,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inputs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317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 receiving</a:t>
                      </a:r>
                      <a:r>
                        <a:rPr dirty="0" sz="850" spc="-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inputs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5303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1,000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5527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cooperatives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market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linkages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1557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cooperatives supported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cooperatives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54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2700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expertise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agribusiness,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resilience,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food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9812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trained/certified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9116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407034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resources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agricultural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08610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47650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AG6.1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7526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innovative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concept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smart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agriculture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1399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620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0652" y="9154117"/>
            <a:ext cx="624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2959" y="717804"/>
          <a:ext cx="6026150" cy="726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650"/>
                <a:gridCol w="715010"/>
                <a:gridCol w="1663064"/>
                <a:gridCol w="1123314"/>
                <a:gridCol w="909955"/>
                <a:gridCol w="1031875"/>
              </a:tblGrid>
              <a:tr h="248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1780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3500" marR="14541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Promote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participation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agribusiness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chains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81610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participants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who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women/youth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09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50%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minimum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0235" y="1524049"/>
            <a:ext cx="6140450" cy="250698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marR="290195" indent="-228600">
              <a:lnSpc>
                <a:spcPct val="101800"/>
              </a:lnSpc>
              <a:spcBef>
                <a:spcPts val="6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community-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agribusiness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sessions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farmer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field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schools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target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counties.</a:t>
            </a:r>
            <a:endParaRPr sz="1100">
              <a:latin typeface="Verdana"/>
              <a:cs typeface="Verdana"/>
            </a:endParaRPr>
          </a:p>
          <a:p>
            <a:pPr marL="354965" marR="17145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Provide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direct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input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support,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improved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seeds,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fertilizers,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climate-resilient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crop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varieties.</a:t>
            </a:r>
            <a:endParaRPr sz="1100">
              <a:latin typeface="Verdana"/>
              <a:cs typeface="Verdana"/>
            </a:endParaRPr>
          </a:p>
          <a:p>
            <a:pPr marL="354965" marR="432434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Support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formation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strengthening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farmer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cooperatives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producer associations.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Facilitate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linkages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between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smallholder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farmers,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processors,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buyers.</a:t>
            </a:r>
            <a:endParaRPr sz="1100">
              <a:latin typeface="Verdana"/>
              <a:cs typeface="Verdana"/>
            </a:endParaRPr>
          </a:p>
          <a:p>
            <a:pPr marL="354965" marR="450215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advocacy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smallholder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credit.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Integrate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mainstreaming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all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agribusiness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programming.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Promote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post-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harvest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 reduce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losses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security.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94183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632040"/>
            <a:ext cx="8258175" cy="1370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2: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Health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Nutrition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00" spc="-55" b="1">
                <a:solidFill>
                  <a:srgbClr val="2C3E50"/>
                </a:solidFill>
                <a:latin typeface="Tahoma"/>
                <a:cs typeface="Tahoma"/>
              </a:rPr>
              <a:t>Health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50" b="1">
                <a:solidFill>
                  <a:srgbClr val="2C3E50"/>
                </a:solidFill>
                <a:latin typeface="Tahoma"/>
                <a:cs typeface="Tahoma"/>
              </a:rPr>
              <a:t>&amp;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2C3E50"/>
                </a:solidFill>
                <a:latin typeface="Tahoma"/>
                <a:cs typeface="Tahoma"/>
              </a:rPr>
              <a:t>Nutrition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01899"/>
              </a:lnSpc>
              <a:spcBef>
                <a:spcPts val="405"/>
              </a:spcBef>
            </a:pP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infographic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presents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structured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overview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Health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Nutrition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program,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summarizing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critical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gaps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landscape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make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urgent,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program's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overarching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three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sub-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ts val="1370"/>
              </a:lnSpc>
              <a:spcBef>
                <a:spcPts val="25"/>
              </a:spcBef>
            </a:pP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CHOICE,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HEAL-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PREVENT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specific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indicators,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targets,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delivery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BDI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expand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policy,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reduce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preventable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illness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underserved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133600"/>
            <a:ext cx="8235696" cy="4593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256270" cy="1237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55" b="1">
                <a:solidFill>
                  <a:srgbClr val="2C3E50"/>
                </a:solidFill>
                <a:latin typeface="Tahoma"/>
                <a:cs typeface="Tahoma"/>
              </a:rPr>
              <a:t>Health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50" b="1">
                <a:solidFill>
                  <a:srgbClr val="2C3E50"/>
                </a:solidFill>
                <a:latin typeface="Tahoma"/>
                <a:cs typeface="Tahoma"/>
              </a:rPr>
              <a:t>&amp;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2C3E50"/>
                </a:solidFill>
                <a:latin typeface="Tahoma"/>
                <a:cs typeface="Tahoma"/>
              </a:rPr>
              <a:t>Nutrition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395"/>
              </a:spcBef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 below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traces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logical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flow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Nutrition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inputs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activities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term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impact,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showing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how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mobile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outreach,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worker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policy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advocacy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combine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measurable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improvements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in health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service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reductions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preventable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disease,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progressively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healthier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population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illness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longer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driver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5619" y="6869659"/>
            <a:ext cx="622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7104888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3"/>
                </a:lnTo>
                <a:lnTo>
                  <a:pt x="8266176" y="9143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19655"/>
            <a:ext cx="82296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422422"/>
            <a:ext cx="6155055" cy="248539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00"/>
              </a:lnSpc>
              <a:spcBef>
                <a:spcPts val="600"/>
              </a:spcBef>
            </a:pP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system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fragile.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fewer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than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5,000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workers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serving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population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over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5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million,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maternal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mortality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highest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Africa,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burden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of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preventable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illness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death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falls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disproportionately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poor,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women,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children.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High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out-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of-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pocket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costs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push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vulnerable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families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deeper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taboo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subject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many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communities,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leading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girls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miss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avoidable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consequences.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addresses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these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gaps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combination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direct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service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expansion,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preventive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campaigns,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advocacy.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DI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runs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three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sub-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within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portfolio: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CHOICE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(maternal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child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health),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HEAL-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(health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advocacy),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PREVENT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(preventive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campaigns).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2974848"/>
            <a:ext cx="5943600" cy="806450"/>
          </a:xfrm>
          <a:prstGeom prst="rect">
            <a:avLst/>
          </a:prstGeom>
          <a:solidFill>
            <a:srgbClr val="FFF8F0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(HLTH1)</a:t>
            </a:r>
            <a:endParaRPr sz="1200">
              <a:latin typeface="Tahoma"/>
              <a:cs typeface="Tahoma"/>
            </a:endParaRPr>
          </a:p>
          <a:p>
            <a:pPr marL="152400" marR="250825">
              <a:lnSpc>
                <a:spcPct val="101899"/>
              </a:lnSpc>
              <a:spcBef>
                <a:spcPts val="400"/>
              </a:spcBef>
            </a:pP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outcomes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underserved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rural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areas,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targeting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5">
                <a:solidFill>
                  <a:srgbClr val="1A1A2E"/>
                </a:solidFill>
                <a:latin typeface="Verdana"/>
                <a:cs typeface="Verdana"/>
              </a:rPr>
              <a:t>15%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improvement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services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end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period.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3948226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236720"/>
          <a:ext cx="6026150" cy="448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/>
                <a:gridCol w="715010"/>
                <a:gridCol w="1620519"/>
                <a:gridCol w="1120775"/>
                <a:gridCol w="739775"/>
                <a:gridCol w="1096645"/>
              </a:tblGrid>
              <a:tr h="3879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2415">
                        <a:lnSpc>
                          <a:spcPct val="102200"/>
                        </a:lnSpc>
                        <a:spcBef>
                          <a:spcPts val="40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3017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Improve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community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outcomes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underserved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rural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areas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113664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improvement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 services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778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+15%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end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 marR="7556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HLTH2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(CHOICE)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1938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Expand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maternal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child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services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rural communities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16065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mothers/children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served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2,000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 marR="75565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HLTH3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(CHOICE)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588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outreach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including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menstrual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health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425450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people reached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5,000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 marR="13906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HLTH4 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(HEAL-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4193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healthcare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</a:t>
                      </a:r>
                      <a:r>
                        <a:rPr dirty="0" sz="850" spc="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advocacy</a:t>
                      </a:r>
                      <a:r>
                        <a:rPr dirty="0" sz="850" spc="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equitable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7747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 briefs/advocacy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events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conducted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 marR="539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HLTH5 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(PREVENT)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349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Reduce</a:t>
                      </a:r>
                      <a:r>
                        <a:rPr dirty="0" sz="850" spc="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incidence</a:t>
                      </a:r>
                      <a:r>
                        <a:rPr dirty="0" sz="850" spc="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preventable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diseases through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awareness campaigns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30988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reduction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preventable diseases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45415">
                        <a:lnSpc>
                          <a:spcPct val="101200"/>
                        </a:lnSpc>
                        <a:spcBef>
                          <a:spcPts val="31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10489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expertise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public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health,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 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advocacy,</a:t>
                      </a:r>
                      <a:r>
                        <a:rPr dirty="0" sz="850" spc="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data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444500">
                        <a:lnSpc>
                          <a:spcPct val="101699"/>
                        </a:lnSpc>
                        <a:spcBef>
                          <a:spcPts val="309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completing training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20345">
                        <a:lnSpc>
                          <a:spcPct val="101200"/>
                        </a:lnSpc>
                        <a:spcBef>
                          <a:spcPts val="31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540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resources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interventions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30670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683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HLTH7.1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7589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maternal,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child,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preventive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1209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0652" y="9154117"/>
            <a:ext cx="624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18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2959" y="717804"/>
          <a:ext cx="6026150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/>
                <a:gridCol w="715010"/>
                <a:gridCol w="1620519"/>
                <a:gridCol w="1120775"/>
                <a:gridCol w="739775"/>
                <a:gridCol w="1096645"/>
              </a:tblGrid>
              <a:tr h="3886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2415">
                        <a:lnSpc>
                          <a:spcPct val="102299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HLTH8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178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826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gender-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sensitive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youth-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friendly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approaches</a:t>
                      </a:r>
                      <a:r>
                        <a:rPr dirty="0" sz="850" spc="5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318770">
                        <a:lnSpc>
                          <a:spcPct val="102099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 initiatives integrating gender/youth components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9558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 spc="-1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100%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initiatives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0235" y="1929520"/>
            <a:ext cx="6106795" cy="212598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mobile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outreach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clinics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remote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underserved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communities.</a:t>
            </a:r>
            <a:endParaRPr sz="1100">
              <a:latin typeface="Verdana"/>
              <a:cs typeface="Verdana"/>
            </a:endParaRPr>
          </a:p>
          <a:p>
            <a:pPr marL="354965" marR="118110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Deliver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structured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menstrual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hygiene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adolescent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girls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and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their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Train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workers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volunteers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trusted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resources.</a:t>
            </a:r>
            <a:endParaRPr sz="1100">
              <a:latin typeface="Verdana"/>
              <a:cs typeface="Verdana"/>
            </a:endParaRPr>
          </a:p>
          <a:p>
            <a:pPr marL="354965" marR="541655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Engage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policymakers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evidence-based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briefs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calling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increased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investment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healthcare.</a:t>
            </a:r>
            <a:endParaRPr sz="1100">
              <a:latin typeface="Verdana"/>
              <a:cs typeface="Verdana"/>
            </a:endParaRPr>
          </a:p>
          <a:p>
            <a:pPr marL="354965" marR="401955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Run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preventive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campaigns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malaria,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diarrhea,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malnutrition,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other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preventable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conditions.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health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programming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applies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gender-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sensitive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lens.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105613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746150"/>
            <a:ext cx="8257540" cy="147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3: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 Education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Education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699"/>
              </a:lnSpc>
              <a:spcBef>
                <a:spcPts val="585"/>
              </a:spcBef>
            </a:pP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infographic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summarizes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presenting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scale of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deficit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foundation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program's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overarching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improving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equitable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quality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learning,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indicators,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targets,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which </a:t>
            </a:r>
            <a:r>
              <a:rPr dirty="0" sz="1100" spc="-20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increase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enrollment,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numeracy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outcomes,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expand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training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out-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of-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youth,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currently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almost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absent.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9" y="2276855"/>
            <a:ext cx="8308848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256905" cy="126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Education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-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0"/>
              </a:spcBef>
            </a:pP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illustrates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tracing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journey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scholarships,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teacher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programs,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initiatives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sustained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outcomes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higher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attendance,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improved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results,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equipped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marketable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skills,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ultimately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contributing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term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closing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gap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breaking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cycle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intergenerational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5619" y="6869659"/>
            <a:ext cx="622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7104888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3"/>
                </a:lnTo>
                <a:lnTo>
                  <a:pt x="8266176" y="9143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1810511"/>
            <a:ext cx="8235696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536587"/>
            <a:ext cx="6154420" cy="236537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both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right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catalyst.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Liberia,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15-</a:t>
            </a:r>
            <a:r>
              <a:rPr dirty="0" sz="1100" spc="-215">
                <a:solidFill>
                  <a:srgbClr val="1A1A2E"/>
                </a:solidFill>
                <a:latin typeface="Verdana"/>
                <a:cs typeface="Verdana"/>
              </a:rPr>
              <a:t>20%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school-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age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children remain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mean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years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schooling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fall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five,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deficit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translates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directly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exclusion,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vulnerability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exploitation,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intergenerational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poverty.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Girls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children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highest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barriers.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Teachers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underprepared,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under-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resourced,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pathways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out-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of-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severely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limited.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literacy,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increasingly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essential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economic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participation,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virtually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absent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communities.</a:t>
            </a: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699"/>
              </a:lnSpc>
              <a:spcBef>
                <a:spcPts val="385"/>
              </a:spcBef>
            </a:pP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addresses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quality,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relevance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ensuring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more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children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school,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effectively,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emerging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skills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labor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values.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2968751"/>
            <a:ext cx="5943600" cy="806450"/>
          </a:xfrm>
          <a:prstGeom prst="rect">
            <a:avLst/>
          </a:prstGeom>
          <a:solidFill>
            <a:srgbClr val="F0FFF4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(EDU1)</a:t>
            </a:r>
            <a:endParaRPr sz="1200">
              <a:latin typeface="Tahoma"/>
              <a:cs typeface="Tahoma"/>
            </a:endParaRPr>
          </a:p>
          <a:p>
            <a:pPr marL="152400" marR="217170">
              <a:lnSpc>
                <a:spcPct val="101800"/>
              </a:lnSpc>
              <a:spcBef>
                <a:spcPts val="405"/>
              </a:spcBef>
            </a:pP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equitable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quality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underserved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communities,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targeting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60">
                <a:solidFill>
                  <a:srgbClr val="1A1A2E"/>
                </a:solidFill>
                <a:latin typeface="Verdana"/>
                <a:cs typeface="Verdana"/>
              </a:rPr>
              <a:t>15%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increase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enrollment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attendance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annually.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3942131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230623"/>
          <a:ext cx="6026150" cy="4884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650"/>
                <a:gridCol w="715010"/>
                <a:gridCol w="1492250"/>
                <a:gridCol w="1367155"/>
                <a:gridCol w="830579"/>
                <a:gridCol w="1037589"/>
              </a:tblGrid>
              <a:tr h="3886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363855">
                        <a:lnSpc>
                          <a:spcPct val="102200"/>
                        </a:lnSpc>
                        <a:spcBef>
                          <a:spcPts val="40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Improve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equitable</a:t>
                      </a:r>
                      <a:r>
                        <a:rPr dirty="0" sz="850" spc="5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quality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underserved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2069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enrollment/attendance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+15%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92405">
                        <a:lnSpc>
                          <a:spcPct val="101699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literacy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numeracy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9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skills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among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primary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school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students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26390">
                        <a:lnSpc>
                          <a:spcPct val="101699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improvement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literacy/numeracy outcomes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+20%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improvement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779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vocational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technical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training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out-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school youth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732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vocational/technical skills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5146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800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6129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Expand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digital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learning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opportunities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ICT literacy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students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teachers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3589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learners/teachers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digital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skills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5415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24154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9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skills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pedagogy,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curriculum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design,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digital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tools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97485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completing training/certification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1785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8097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resources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</a:t>
                      </a:r>
                      <a:r>
                        <a:rPr dirty="0" sz="850" spc="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interventions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5245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682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EDU6.1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715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education,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vocational,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digital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learning 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8130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178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286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sensitive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inclusive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approaches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1717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girls/women benefiting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from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</a:t>
                      </a:r>
                      <a:r>
                        <a:rPr dirty="0" sz="850" spc="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minimum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35" y="429297"/>
            <a:ext cx="6053455" cy="209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marR="201930" indent="-228600">
              <a:lnSpc>
                <a:spcPct val="101800"/>
              </a:lnSpc>
              <a:spcBef>
                <a:spcPts val="605"/>
              </a:spcBef>
              <a:buChar char="•"/>
              <a:tabLst>
                <a:tab pos="354965" algn="l"/>
              </a:tabLst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Distribute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materials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scholarships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keep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children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especially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girls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school.</a:t>
            </a:r>
            <a:endParaRPr sz="1100">
              <a:latin typeface="Verdana"/>
              <a:cs typeface="Verdana"/>
            </a:endParaRPr>
          </a:p>
          <a:p>
            <a:pPr marL="354965" marR="56769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Establish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support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centers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tailored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economic opportunities.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Train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teachers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child-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friendly,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gender-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responsive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pedagogy.</a:t>
            </a:r>
            <a:endParaRPr sz="1100">
              <a:latin typeface="Verdana"/>
              <a:cs typeface="Verdana"/>
            </a:endParaRPr>
          </a:p>
          <a:p>
            <a:pPr marL="354965" marR="5080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Introduce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literacy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without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consistent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internet access.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Advocate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classrooms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accessible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infrastructure.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0652" y="9154117"/>
            <a:ext cx="624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105613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746150"/>
            <a:ext cx="8258809" cy="147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 AREA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4: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75" b="1">
                <a:solidFill>
                  <a:srgbClr val="C0392B"/>
                </a:solidFill>
                <a:latin typeface="Tahoma"/>
                <a:cs typeface="Tahoma"/>
              </a:rPr>
              <a:t>Environment</a:t>
            </a: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Climate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Resilience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dirty="0" sz="1300" spc="-55" b="1">
                <a:solidFill>
                  <a:srgbClr val="2C3E50"/>
                </a:solidFill>
                <a:latin typeface="Tahoma"/>
                <a:cs typeface="Tahoma"/>
              </a:rPr>
              <a:t>Environmental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699"/>
              </a:lnSpc>
              <a:spcBef>
                <a:spcPts val="585"/>
              </a:spcBef>
            </a:pP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image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outlines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Environment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anchored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reality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could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shrink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economy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70">
                <a:solidFill>
                  <a:srgbClr val="1A1A2E"/>
                </a:solidFill>
                <a:latin typeface="Verdana"/>
                <a:cs typeface="Verdana"/>
              </a:rPr>
              <a:t>15%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2050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left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unaddressed,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presenting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program's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objective,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indicators,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targets,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integrated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through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9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community-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based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natural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resource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management, expand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clean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energy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solutions,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adaptive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exposed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environmental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shocks.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356104"/>
            <a:ext cx="8235696" cy="45933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258175" cy="1434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55" b="1">
                <a:solidFill>
                  <a:srgbClr val="2C3E50"/>
                </a:solidFill>
                <a:latin typeface="Tahoma"/>
                <a:cs typeface="Tahoma"/>
              </a:rPr>
              <a:t>Environmental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presents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Environment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demonstrating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how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NRM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committees,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energy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distribution,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conservation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campaigns,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advocacy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translate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measurable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increases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climate-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resilient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practices,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slower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rates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deforestation,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reduced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household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vulnerability,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ultimately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contributing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protection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globally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significant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natural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assets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sustainability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depend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them.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5619" y="6869659"/>
            <a:ext cx="622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7104888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3"/>
                </a:lnTo>
                <a:lnTo>
                  <a:pt x="8266176" y="9143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1965960"/>
            <a:ext cx="8235696" cy="45476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536587"/>
            <a:ext cx="6156325" cy="275844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0"/>
              </a:spcBef>
            </a:pP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forests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ecologically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significant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West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Africa,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containing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around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40%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Upper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Guinea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Forest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region's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remaining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tree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cover.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deforestation,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unsustainable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land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use,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weak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governance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place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natural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wealth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depend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severe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risk.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distant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threat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Liberians;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present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reality.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disrupts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growing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seasons,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intensifies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flooding,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shrinks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livelihoods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farmers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fisher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safety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nets.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100">
              <a:latin typeface="Verdana"/>
              <a:cs typeface="Verdana"/>
            </a:endParaRPr>
          </a:p>
          <a:p>
            <a:pPr algn="just" marL="12700" marR="6985">
              <a:lnSpc>
                <a:spcPct val="102400"/>
              </a:lnSpc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environment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focuses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community-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conservation,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adaptation,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energy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waste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treating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sustainability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separate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sector,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 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foundation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all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other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rests.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3361944"/>
            <a:ext cx="5943600" cy="970915"/>
          </a:xfrm>
          <a:prstGeom prst="rect">
            <a:avLst/>
          </a:prstGeom>
          <a:solidFill>
            <a:srgbClr val="F0F4F8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(ENV1)</a:t>
            </a:r>
            <a:endParaRPr sz="1200">
              <a:latin typeface="Tahoma"/>
              <a:cs typeface="Tahoma"/>
            </a:endParaRPr>
          </a:p>
          <a:p>
            <a:pPr marL="152400" marR="189230">
              <a:lnSpc>
                <a:spcPct val="101899"/>
              </a:lnSpc>
              <a:spcBef>
                <a:spcPts val="400"/>
              </a:spcBef>
            </a:pP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Promote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sustainability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resilience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vulnerable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communities,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targeting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65">
                <a:solidFill>
                  <a:srgbClr val="1A1A2E"/>
                </a:solidFill>
                <a:latin typeface="Verdana"/>
                <a:cs typeface="Verdana"/>
              </a:rPr>
              <a:t>20%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increase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the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adoption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climate-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resilient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practices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target groups.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4498289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788408"/>
          <a:ext cx="6026150" cy="427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/>
                <a:gridCol w="715010"/>
                <a:gridCol w="1694814"/>
                <a:gridCol w="1135380"/>
                <a:gridCol w="757554"/>
                <a:gridCol w="1135379"/>
              </a:tblGrid>
              <a:tr h="3867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92100">
                        <a:lnSpc>
                          <a:spcPct val="102200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9972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Promote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environmental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sustainability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resilience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vulnerable communities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49554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adoption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climate-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resilient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practices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+20%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 marR="198755">
                        <a:lnSpc>
                          <a:spcPct val="102299"/>
                        </a:lnSpc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adoption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rate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13,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286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community-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based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natural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(NRM)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4160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 groups trained/engaged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 marR="94615">
                        <a:lnSpc>
                          <a:spcPct val="102299"/>
                        </a:lnSpc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groups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3500" marR="15557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Promote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renewable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energy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clean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cooking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solutions in 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rural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households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32410">
                        <a:lnSpc>
                          <a:spcPct val="102099"/>
                        </a:lnSpc>
                        <a:spcBef>
                          <a:spcPts val="30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households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adopting renewable energy/clean cooking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households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7,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0922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Conduct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public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campaigns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waste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sanitation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6573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people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reached</a:t>
                      </a:r>
                      <a:r>
                        <a:rPr dirty="0" sz="850" spc="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campaigns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5,000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54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expertise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policy,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environmental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5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renewable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energy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1018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trained/certified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240029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9210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resources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environment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 initiatives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206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ENV6.1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089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resilience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renewable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2606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0652" y="9154117"/>
            <a:ext cx="624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2959" y="717804"/>
          <a:ext cx="6026150" cy="999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/>
                <a:gridCol w="715010"/>
                <a:gridCol w="1694814"/>
                <a:gridCol w="1135380"/>
                <a:gridCol w="757554"/>
                <a:gridCol w="1135379"/>
              </a:tblGrid>
              <a:tr h="388620"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92100">
                        <a:lnSpc>
                          <a:spcPct val="102299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algn="ctr" marR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178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9812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 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play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leading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roles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environmental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resilience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initiatives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7175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women/youth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participants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environmental programs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minimum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13,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0235" y="1797170"/>
            <a:ext cx="5938520" cy="208724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marR="5080" indent="-228600">
              <a:lnSpc>
                <a:spcPct val="101899"/>
              </a:lnSpc>
              <a:spcBef>
                <a:spcPts val="610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Facilitate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community-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natural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resource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committees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clear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governance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structures.</a:t>
            </a:r>
            <a:endParaRPr sz="1100">
              <a:latin typeface="Verdana"/>
              <a:cs typeface="Verdana"/>
            </a:endParaRPr>
          </a:p>
          <a:p>
            <a:pPr marL="354965" marR="208279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Introduce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solar-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powered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solutions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clean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cookstoves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rural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peri-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urban communities.</a:t>
            </a:r>
            <a:endParaRPr sz="1100">
              <a:latin typeface="Verdana"/>
              <a:cs typeface="Verdana"/>
            </a:endParaRPr>
          </a:p>
          <a:p>
            <a:pPr marL="354965" marR="4826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environmental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conservation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awareness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campaigns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linked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agricultural practices.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Advocate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land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rights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concession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management.</a:t>
            </a:r>
            <a:endParaRPr sz="1100">
              <a:latin typeface="Verdana"/>
              <a:cs typeface="Verdana"/>
            </a:endParaRPr>
          </a:p>
          <a:p>
            <a:pPr marL="354965" marR="495934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Integrate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climate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adaptation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strategies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into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fisheries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programming.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94183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632040"/>
            <a:ext cx="8258175" cy="147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5: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Gender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C0392B"/>
                </a:solidFill>
                <a:latin typeface="Tahoma"/>
                <a:cs typeface="Tahoma"/>
              </a:rPr>
              <a:t>Youth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Empowerment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Gender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Youth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699"/>
              </a:lnSpc>
              <a:spcBef>
                <a:spcPts val="585"/>
              </a:spcBef>
            </a:pP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infographic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presents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which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recognizes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represent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over </a:t>
            </a:r>
            <a:r>
              <a:rPr dirty="0" sz="1100" spc="-190">
                <a:solidFill>
                  <a:srgbClr val="1A1A2E"/>
                </a:solidFill>
                <a:latin typeface="Verdana"/>
                <a:cs typeface="Verdana"/>
              </a:rPr>
              <a:t>60%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population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continue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structural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barriers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participation,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leadership,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dignified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livelihoods,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sets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out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program's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indicators,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annual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targets,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90">
                <a:solidFill>
                  <a:srgbClr val="1A1A2E"/>
                </a:solidFill>
                <a:latin typeface="Verdana"/>
                <a:cs typeface="Verdana"/>
              </a:rPr>
              <a:t>six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delivery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which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BDI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expand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entrepreneurship,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women-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youth-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enterprises,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deepen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civic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engagement.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139695"/>
            <a:ext cx="8235696" cy="45963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4"/>
                </a:lnTo>
                <a:lnTo>
                  <a:pt x="8266176" y="9144"/>
                </a:lnTo>
                <a:lnTo>
                  <a:pt x="82661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258809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1A1A2E"/>
                </a:solidFill>
                <a:latin typeface="Tahoma"/>
                <a:cs typeface="Tahoma"/>
              </a:rPr>
              <a:t>Gender and</a:t>
            </a:r>
            <a:r>
              <a:rPr dirty="0" sz="1100" spc="10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55" b="1">
                <a:solidFill>
                  <a:srgbClr val="1A1A2E"/>
                </a:solidFill>
                <a:latin typeface="Tahoma"/>
                <a:cs typeface="Tahoma"/>
              </a:rPr>
              <a:t>Youth</a:t>
            </a:r>
            <a:r>
              <a:rPr dirty="0" sz="1100" spc="-5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40" b="1">
                <a:solidFill>
                  <a:srgbClr val="1A1A2E"/>
                </a:solidFill>
                <a:latin typeface="Tahoma"/>
                <a:cs typeface="Tahoma"/>
              </a:rPr>
              <a:t>Program</a:t>
            </a:r>
            <a:r>
              <a:rPr dirty="0" sz="1100" spc="15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60" b="1">
                <a:solidFill>
                  <a:srgbClr val="1A1A2E"/>
                </a:solidFill>
                <a:latin typeface="Tahoma"/>
                <a:cs typeface="Tahoma"/>
              </a:rPr>
              <a:t>Theory</a:t>
            </a:r>
            <a:r>
              <a:rPr dirty="0" sz="1100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35" b="1">
                <a:solidFill>
                  <a:srgbClr val="1A1A2E"/>
                </a:solidFill>
                <a:latin typeface="Tahoma"/>
                <a:cs typeface="Tahoma"/>
              </a:rPr>
              <a:t>of</a:t>
            </a:r>
            <a:r>
              <a:rPr dirty="0" sz="1100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A1A2E"/>
                </a:solidFill>
                <a:latin typeface="Tahoma"/>
                <a:cs typeface="Tahoma"/>
              </a:rPr>
              <a:t>Change</a:t>
            </a:r>
            <a:endParaRPr sz="11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39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maps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Empowerment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showing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how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entrepreneurship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microfinance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facilitation,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leadership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clubs,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dialogues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norms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produce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measurable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increases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leadership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participation,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turn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contribute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of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independence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youth,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advancing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equality,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poverty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reduced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structurally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rather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than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symptomatically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5619" y="6869659"/>
            <a:ext cx="622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28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7104888"/>
            <a:ext cx="8266430" cy="9525"/>
          </a:xfrm>
          <a:custGeom>
            <a:avLst/>
            <a:gdLst/>
            <a:ahLst/>
            <a:cxnLst/>
            <a:rect l="l" t="t" r="r" b="b"/>
            <a:pathLst>
              <a:path w="8266430" h="9525">
                <a:moveTo>
                  <a:pt x="8266176" y="0"/>
                </a:moveTo>
                <a:lnTo>
                  <a:pt x="0" y="0"/>
                </a:lnTo>
                <a:lnTo>
                  <a:pt x="0" y="9143"/>
                </a:lnTo>
                <a:lnTo>
                  <a:pt x="8266176" y="9143"/>
                </a:lnTo>
                <a:lnTo>
                  <a:pt x="82661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1981200"/>
            <a:ext cx="8235696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478604"/>
            <a:ext cx="6155055" cy="270827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simply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beneficiaries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they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drivers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seek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achieve.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structural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inequalities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continue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lock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them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out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6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6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opportunity,</a:t>
            </a:r>
            <a:r>
              <a:rPr dirty="0" sz="1100" spc="6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political</a:t>
            </a:r>
            <a:r>
              <a:rPr dirty="0" sz="1100" spc="6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participation,</a:t>
            </a:r>
            <a:r>
              <a:rPr dirty="0" sz="1100" spc="6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dignified</a:t>
            </a:r>
            <a:r>
              <a:rPr dirty="0" sz="1100" spc="6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livelihoods.</a:t>
            </a:r>
            <a:r>
              <a:rPr dirty="0" sz="1100" spc="6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unemployment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high,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exacerbated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b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insufficient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pathways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challenging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investment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climate.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gender-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violence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alarming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rates,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bear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brunt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unpaid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care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work,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encounter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systematic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bias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accessing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finance,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land,</a:t>
            </a:r>
            <a:r>
              <a:rPr dirty="0" sz="1100" spc="1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leadership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roles.</a:t>
            </a:r>
            <a:endParaRPr sz="1100">
              <a:latin typeface="Verdana"/>
              <a:cs typeface="Verdana"/>
            </a:endParaRPr>
          </a:p>
          <a:p>
            <a:pPr algn="just" marL="12700" marR="6350">
              <a:lnSpc>
                <a:spcPct val="102400"/>
              </a:lnSpc>
              <a:spcBef>
                <a:spcPts val="390"/>
              </a:spcBef>
            </a:pP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empowerment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dedicated,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cross-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cutting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initiative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supports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women-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led</a:t>
            </a:r>
            <a:r>
              <a:rPr dirty="0" sz="1100" spc="-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enterprises,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civic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engagement,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financial</a:t>
            </a:r>
            <a:r>
              <a:rPr dirty="0" sz="1100" spc="-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literacy,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skills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while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simultaneously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working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shift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social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norms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that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perpetuate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exclusion.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3253740"/>
            <a:ext cx="5943600" cy="970915"/>
          </a:xfrm>
          <a:prstGeom prst="rect">
            <a:avLst/>
          </a:prstGeom>
          <a:solidFill>
            <a:srgbClr val="FEF9E7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(GYE1)</a:t>
            </a:r>
            <a:endParaRPr sz="1200">
              <a:latin typeface="Tahoma"/>
              <a:cs typeface="Tahoma"/>
            </a:endParaRPr>
          </a:p>
          <a:p>
            <a:pPr marL="152400" marR="227965">
              <a:lnSpc>
                <a:spcPct val="101899"/>
              </a:lnSpc>
              <a:spcBef>
                <a:spcPts val="400"/>
              </a:spcBef>
            </a:pP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Empower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14">
                <a:solidFill>
                  <a:srgbClr val="1A1A2E"/>
                </a:solidFill>
                <a:latin typeface="Verdana"/>
                <a:cs typeface="Verdana"/>
              </a:rPr>
              <a:t>skills,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resources,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opportunities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leadership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independence,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targeting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65">
                <a:solidFill>
                  <a:srgbClr val="1A1A2E"/>
                </a:solidFill>
                <a:latin typeface="Verdana"/>
                <a:cs typeface="Verdana"/>
              </a:rPr>
              <a:t>20%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annual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increase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or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leadership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roles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among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participants.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4390148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680203"/>
          <a:ext cx="6026150" cy="4405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/>
                <a:gridCol w="715010"/>
                <a:gridCol w="1696720"/>
                <a:gridCol w="1140460"/>
                <a:gridCol w="760729"/>
                <a:gridCol w="1126489"/>
              </a:tblGrid>
              <a:tr h="3886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94005">
                        <a:lnSpc>
                          <a:spcPct val="102200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28905">
                        <a:lnSpc>
                          <a:spcPct val="102099"/>
                        </a:lnSpc>
                        <a:spcBef>
                          <a:spcPts val="30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Empower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9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skills,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resources,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opportunities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leadership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economic</a:t>
                      </a:r>
                      <a:r>
                        <a:rPr dirty="0" sz="850" spc="5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independence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7683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income/leadership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roles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among participants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+20%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7526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vocational,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entrepreneurship,</a:t>
                      </a:r>
                      <a:r>
                        <a:rPr dirty="0" sz="850" spc="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financial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literacy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training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youth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18415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youth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1,200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participants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938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women-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youth-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led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businesses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finance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mentorship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270510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enterprises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 marR="153035">
                        <a:lnSpc>
                          <a:spcPts val="1040"/>
                        </a:lnSpc>
                        <a:spcBef>
                          <a:spcPts val="30"/>
                        </a:spcBef>
                      </a:pP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businesses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0541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civic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engagement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leadership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opportunities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45212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engaged</a:t>
                      </a:r>
                      <a:r>
                        <a:rPr dirty="0" sz="850" spc="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leadership initiatives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8161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54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778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expertise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sensitive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programming,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development,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advocacy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464184">
                        <a:lnSpc>
                          <a:spcPct val="101699"/>
                        </a:lnSpc>
                        <a:spcBef>
                          <a:spcPts val="30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completing training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4193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7810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resources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initiatives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32702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76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GYE6.1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20979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youth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23177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85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0652" y="9154117"/>
            <a:ext cx="624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2959" y="717804"/>
          <a:ext cx="6026150" cy="999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/>
                <a:gridCol w="715010"/>
                <a:gridCol w="1696720"/>
                <a:gridCol w="1140460"/>
                <a:gridCol w="760729"/>
                <a:gridCol w="1126489"/>
              </a:tblGrid>
              <a:tr h="388620">
                <a:tc>
                  <a:txBody>
                    <a:bodyPr/>
                    <a:lstStyle/>
                    <a:p>
                      <a:pPr algn="ctr" marR="571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94005">
                        <a:lnSpc>
                          <a:spcPct val="102299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algn="ctr" marR="939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GYE7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178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01600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Mainstream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gender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equality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 </a:t>
                      </a:r>
                      <a:r>
                        <a:rPr dirty="0" sz="850" spc="-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areas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7048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integrating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empowerment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100%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0235" y="1797170"/>
            <a:ext cx="6023610" cy="174434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marR="5080" indent="-228600">
              <a:lnSpc>
                <a:spcPct val="101899"/>
              </a:lnSpc>
              <a:spcBef>
                <a:spcPts val="610"/>
              </a:spcBef>
              <a:buChar char="•"/>
              <a:tabLst>
                <a:tab pos="354965" algn="l"/>
              </a:tabLst>
            </a:pP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Run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structured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entrepreneurship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boot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camps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business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youth.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Facilitate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microfinance,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savings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groups,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mentorship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networks.</a:t>
            </a:r>
            <a:endParaRPr sz="1100">
              <a:latin typeface="Verdana"/>
              <a:cs typeface="Verdana"/>
            </a:endParaRPr>
          </a:p>
          <a:p>
            <a:pPr marL="354965" marR="669925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Establish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leadership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clubs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civic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engagement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initiatives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target communities.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traditional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leaders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address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harmful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norms.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all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apply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gender-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transformative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youth-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lens.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827532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4"/>
                </a:lnTo>
                <a:lnTo>
                  <a:pt x="8723376" y="9144"/>
                </a:lnTo>
                <a:lnTo>
                  <a:pt x="87233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517715"/>
            <a:ext cx="8713470" cy="147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6: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C0392B"/>
                </a:solidFill>
                <a:latin typeface="Tahoma"/>
                <a:cs typeface="Tahoma"/>
              </a:rPr>
              <a:t>Fisheries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Aquaculture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Fisheries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Aquaculture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699"/>
              </a:lnSpc>
              <a:spcBef>
                <a:spcPts val="585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image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summarizes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presenting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untapped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potential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570-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kilometer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coastline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alongside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constraints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holding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back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artisanal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communities,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outlining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program's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overarching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objective,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measurable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targets,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practical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train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fishers,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support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aquaculture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enterprises,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central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actors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growth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blue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economy.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103120"/>
            <a:ext cx="8692896" cy="484936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4"/>
                </a:lnTo>
                <a:lnTo>
                  <a:pt x="8723376" y="9144"/>
                </a:lnTo>
                <a:lnTo>
                  <a:pt x="87233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715375" cy="1434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Fisheries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and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Aquaculture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illustrates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tracing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path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staff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expertise,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donor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resources,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coastal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networks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skills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enterprise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support,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value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chain facilitation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outcomes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higher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fisher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incomes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improved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food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security,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ultimately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sustainably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managed,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economically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productive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sector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marine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resources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protected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generations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92857" y="6869659"/>
            <a:ext cx="622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7104888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3"/>
                </a:lnTo>
                <a:lnTo>
                  <a:pt x="8723376" y="9143"/>
                </a:lnTo>
                <a:lnTo>
                  <a:pt x="87233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1941576"/>
            <a:ext cx="8692896" cy="4739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393357"/>
            <a:ext cx="6155055" cy="226758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20"/>
              </a:spcBef>
            </a:pPr>
            <a:r>
              <a:rPr dirty="0" sz="1100" spc="-10" b="1">
                <a:solidFill>
                  <a:srgbClr val="1A1A2E"/>
                </a:solidFill>
                <a:latin typeface="Tahoma"/>
                <a:cs typeface="Tahoma"/>
              </a:rPr>
              <a:t>Background</a:t>
            </a:r>
            <a:r>
              <a:rPr dirty="0" sz="1100" spc="15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1A1A2E"/>
                </a:solidFill>
                <a:latin typeface="Tahoma"/>
                <a:cs typeface="Tahoma"/>
              </a:rPr>
              <a:t>and</a:t>
            </a:r>
            <a:r>
              <a:rPr dirty="0" sz="1100" spc="30" b="1">
                <a:solidFill>
                  <a:srgbClr val="1A1A2E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A1A2E"/>
                </a:solidFill>
                <a:latin typeface="Tahoma"/>
                <a:cs typeface="Tahoma"/>
              </a:rPr>
              <a:t>Rationale</a:t>
            </a:r>
            <a:endParaRPr sz="1100">
              <a:latin typeface="Tahoma"/>
              <a:cs typeface="Tahoma"/>
            </a:endParaRPr>
          </a:p>
          <a:p>
            <a:pPr algn="just" marL="12700" marR="5715">
              <a:lnSpc>
                <a:spcPct val="102400"/>
              </a:lnSpc>
              <a:spcBef>
                <a:spcPts val="385"/>
              </a:spcBef>
            </a:pP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coastline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inland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waterways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represent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underutilized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food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security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asset.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Artisanal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4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livelihood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communities,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29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country's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widely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consumed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source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animal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protein.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sector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1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constrained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by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overfishing,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inadequate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post-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harvest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infrastructure,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poor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2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access,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limited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technical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capacity.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play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central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role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processing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trade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often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excluded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formal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support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systems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market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opportunities.</a:t>
            </a: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699"/>
              </a:lnSpc>
              <a:spcBef>
                <a:spcPts val="375"/>
              </a:spcBef>
            </a:pP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aims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sustainably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expand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sector's</a:t>
            </a:r>
            <a:r>
              <a:rPr dirty="0" sz="1100" spc="-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contribution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security,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generation,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diversification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particular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focus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entrepreneurs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innovators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within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blue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economy.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2727960"/>
            <a:ext cx="5943600" cy="970915"/>
          </a:xfrm>
          <a:prstGeom prst="rect">
            <a:avLst/>
          </a:prstGeom>
          <a:solidFill>
            <a:srgbClr val="F0F8FF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(FISH1)</a:t>
            </a:r>
            <a:endParaRPr sz="1200">
              <a:latin typeface="Tahoma"/>
              <a:cs typeface="Tahoma"/>
            </a:endParaRPr>
          </a:p>
          <a:p>
            <a:pPr marL="152400" marR="151765">
              <a:lnSpc>
                <a:spcPct val="101899"/>
              </a:lnSpc>
              <a:spcBef>
                <a:spcPts val="400"/>
              </a:spcBef>
            </a:pP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Promote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driver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food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security,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livelihoods,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growth,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targeting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65">
                <a:solidFill>
                  <a:srgbClr val="1A1A2E"/>
                </a:solidFill>
                <a:latin typeface="Verdana"/>
                <a:cs typeface="Verdana"/>
              </a:rPr>
              <a:t>20%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increase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sustainable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practices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among target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annually.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3864280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154423"/>
          <a:ext cx="6026150" cy="488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/>
                <a:gridCol w="715010"/>
                <a:gridCol w="1595755"/>
                <a:gridCol w="1303019"/>
                <a:gridCol w="746760"/>
                <a:gridCol w="1080769"/>
              </a:tblGrid>
              <a:tr h="3867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280035">
                        <a:lnSpc>
                          <a:spcPct val="102200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Promote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sustainable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aquaculture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as </a:t>
                      </a:r>
                      <a:r>
                        <a:rPr dirty="0" sz="850" spc="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driver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food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security,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livelihoods,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economic growth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29083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sustainable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fishing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practices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+20%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14,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2128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</a:t>
                      </a:r>
                      <a:r>
                        <a:rPr dirty="0" sz="850" spc="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artisanal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training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sustainable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fishing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methods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safety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fishers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5748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600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14,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1399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aquaculture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development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for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entrepreneurs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aquaculture enterprises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established/supported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 marR="117475">
                        <a:lnSpc>
                          <a:spcPct val="102299"/>
                        </a:lnSpc>
                      </a:pP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enterprises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4892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Improve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chain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market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access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small-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scale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8382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 incomes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value-</a:t>
                      </a:r>
                      <a:r>
                        <a:rPr dirty="0" sz="850" spc="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added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products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markets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+15%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147320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636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expertise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management, aquaculture,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value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chain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development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379095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trained/certified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27965">
                        <a:lnSpc>
                          <a:spcPct val="101200"/>
                        </a:lnSpc>
                        <a:spcBef>
                          <a:spcPts val="31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1938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resources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aquaculture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489584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FISH6.1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00660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innovative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aquaculture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21844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7368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40386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environmental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sustainability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13779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projects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integrating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100%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13,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0652" y="9154117"/>
            <a:ext cx="624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2959" y="717804"/>
          <a:ext cx="6026150" cy="73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/>
                <a:gridCol w="715010"/>
                <a:gridCol w="1595755"/>
                <a:gridCol w="1303019"/>
                <a:gridCol w="746760"/>
                <a:gridCol w="1080769"/>
              </a:tblGrid>
              <a:tr h="3886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280035">
                        <a:lnSpc>
                          <a:spcPct val="102299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0066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gender/youth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33401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sustainability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gender/youth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0235" y="1535206"/>
            <a:ext cx="6128385" cy="191325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marR="227329" indent="-228600">
              <a:lnSpc>
                <a:spcPct val="101800"/>
              </a:lnSpc>
              <a:spcBef>
                <a:spcPts val="595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Provide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technical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responsible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methods,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processing,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food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safety.</a:t>
            </a:r>
            <a:endParaRPr sz="1100">
              <a:latin typeface="Verdana"/>
              <a:cs typeface="Verdana"/>
            </a:endParaRPr>
          </a:p>
          <a:p>
            <a:pPr marL="354965" marR="96520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Support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small-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scale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aquaculture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enterprises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start-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up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grants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mentorship.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Facilitate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market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linkages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for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processors,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focusing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value-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added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products.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Engage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coastal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sustainable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marine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resource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practices.</a:t>
            </a:r>
            <a:endParaRPr sz="1100">
              <a:latin typeface="Verdana"/>
              <a:cs typeface="Verdana"/>
            </a:endParaRPr>
          </a:p>
          <a:p>
            <a:pPr marL="354965" marR="290195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youth-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fishing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enterprises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receive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priority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training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resources.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883919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4"/>
                </a:lnTo>
                <a:lnTo>
                  <a:pt x="8723376" y="9144"/>
                </a:lnTo>
                <a:lnTo>
                  <a:pt x="87233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574065"/>
            <a:ext cx="8714105" cy="147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7: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C0392B"/>
                </a:solidFill>
                <a:latin typeface="Tahoma"/>
                <a:cs typeface="Tahoma"/>
              </a:rPr>
              <a:t>Disability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Inclusion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1300" spc="-60" b="1">
                <a:solidFill>
                  <a:srgbClr val="2C3E50"/>
                </a:solidFill>
                <a:latin typeface="Tahoma"/>
                <a:cs typeface="Tahoma"/>
              </a:rPr>
              <a:t>Disability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Inclusion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5"/>
              </a:spcBef>
            </a:pP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image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summarizes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responds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to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reality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systematically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denied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equal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employment,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healthcare,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public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spaces,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details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program's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rights-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objective,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targets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measure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progress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toward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full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inclusion,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four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delivery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pillars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direct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services,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education,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advocacy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dismantle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these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barriers.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103120"/>
            <a:ext cx="8692896" cy="48493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4"/>
                </a:lnTo>
                <a:lnTo>
                  <a:pt x="8723376" y="9144"/>
                </a:lnTo>
                <a:lnTo>
                  <a:pt x="87233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714740" cy="1434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60" b="1">
                <a:solidFill>
                  <a:srgbClr val="2C3E50"/>
                </a:solidFill>
                <a:latin typeface="Tahoma"/>
                <a:cs typeface="Tahoma"/>
              </a:rPr>
              <a:t>Disability</a:t>
            </a:r>
            <a:r>
              <a:rPr dirty="0" sz="1300" spc="-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Inclusion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600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maps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illustrating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how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assistive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device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provision, 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adapted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100" spc="1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support,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CRPD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advocacy,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1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sensitization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combine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produce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measurable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gains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service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economic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participation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disabilities,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contributing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impact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systemic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exclusion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6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replaced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by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full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dignified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participation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civic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life,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where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one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left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behind.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92857" y="6869659"/>
            <a:ext cx="622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36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7104888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3"/>
                </a:lnTo>
                <a:lnTo>
                  <a:pt x="8723376" y="9143"/>
                </a:lnTo>
                <a:lnTo>
                  <a:pt x="87233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1959864"/>
            <a:ext cx="8692896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478604"/>
            <a:ext cx="6155055" cy="469392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699"/>
              </a:lnSpc>
              <a:spcBef>
                <a:spcPts val="595"/>
              </a:spcBef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(PWDs)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most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pervasive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yet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least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addressed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forms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exclusion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country's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landscape.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According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endParaRPr sz="1100">
              <a:latin typeface="Verdana"/>
              <a:cs typeface="Verdana"/>
            </a:endParaRPr>
          </a:p>
          <a:p>
            <a:pPr algn="just" marL="12700" marR="6985">
              <a:lnSpc>
                <a:spcPct val="101800"/>
              </a:lnSpc>
            </a:pPr>
            <a:r>
              <a:rPr dirty="0" sz="1100" spc="-180">
                <a:solidFill>
                  <a:srgbClr val="1A1A2E"/>
                </a:solidFill>
                <a:latin typeface="Verdana"/>
                <a:cs typeface="Verdana"/>
              </a:rPr>
              <a:t>U.S.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Department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State,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cannot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 education,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services,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public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buildings,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or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transportation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1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equal</a:t>
            </a:r>
            <a:r>
              <a:rPr dirty="0" sz="1100" spc="2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basis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others,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routinely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face</a:t>
            </a:r>
            <a:endParaRPr sz="1100">
              <a:latin typeface="Verdana"/>
              <a:cs typeface="Verdana"/>
            </a:endParaRPr>
          </a:p>
          <a:p>
            <a:pPr algn="just" marL="12700" marR="6985">
              <a:lnSpc>
                <a:spcPct val="102299"/>
              </a:lnSpc>
              <a:spcBef>
                <a:spcPts val="5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discrimination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employment,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housing,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healthcare.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exact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number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PWDs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 Liberia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uncertain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due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underreporting,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estimates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consistently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point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significant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underserved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population.</a:t>
            </a: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499"/>
              </a:lnSpc>
              <a:spcBef>
                <a:spcPts val="39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Years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civil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war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left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many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Liberians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physical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psychological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disabilities.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Poverty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deepens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the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exclusion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PWDs,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who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often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cannot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afford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assistive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devices,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cannot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schools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lack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infrastructure,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cannot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find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employers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willing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hire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them.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Social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stigma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compounds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structural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barriers,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isolating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from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life,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religious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spaces,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civic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participation.</a:t>
            </a: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200"/>
              </a:lnSpc>
              <a:spcBef>
                <a:spcPts val="390"/>
              </a:spcBef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signed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United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Nations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Convention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Rights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Disabilities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(CRPD)</a:t>
            </a:r>
            <a:r>
              <a:rPr dirty="0" sz="1100" spc="2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enacted</a:t>
            </a:r>
            <a:r>
              <a:rPr dirty="0" sz="1100" spc="2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domestic</a:t>
            </a:r>
            <a:r>
              <a:rPr dirty="0" sz="1100" spc="2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legislation</a:t>
            </a:r>
            <a:r>
              <a:rPr dirty="0" sz="1100" spc="2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protect</a:t>
            </a:r>
            <a:r>
              <a:rPr dirty="0" sz="1100" spc="2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rights</a:t>
            </a:r>
            <a:r>
              <a:rPr dirty="0" sz="1100" spc="2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PWDs.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However,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implementation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2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slow,</a:t>
            </a:r>
            <a:r>
              <a:rPr dirty="0" sz="1100" spc="2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underfunded,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largely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unmonitored.</a:t>
            </a:r>
            <a:r>
              <a:rPr dirty="0" sz="1100" spc="2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Civil</a:t>
            </a:r>
            <a:r>
              <a:rPr dirty="0" sz="1100" spc="2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society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organizations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have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critical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role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play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bridging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gap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documenting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violations,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advocating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enforcement,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providing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direct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services,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changing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social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norms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that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treat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source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shame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rather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than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call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action.</a:t>
            </a:r>
            <a:endParaRPr sz="1100">
              <a:latin typeface="Verdana"/>
              <a:cs typeface="Verdana"/>
            </a:endParaRPr>
          </a:p>
          <a:p>
            <a:pPr algn="just" marL="12700" marR="5715">
              <a:lnSpc>
                <a:spcPct val="102400"/>
              </a:lnSpc>
              <a:spcBef>
                <a:spcPts val="385"/>
              </a:spcBef>
            </a:pP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commitment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'leaving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behind'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demands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explicitly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systematically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include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with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programming.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8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peripheral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concern.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29">
                <a:solidFill>
                  <a:srgbClr val="1A1A2E"/>
                </a:solidFill>
                <a:latin typeface="Verdana"/>
                <a:cs typeface="Verdana"/>
              </a:rPr>
              <a:t>It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8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core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expression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values,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change,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vision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without poverty.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5239511"/>
            <a:ext cx="5943600" cy="970915"/>
          </a:xfrm>
          <a:prstGeom prst="rect">
            <a:avLst/>
          </a:prstGeom>
          <a:solidFill>
            <a:srgbClr val="F5F0FF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(DI1)</a:t>
            </a:r>
            <a:endParaRPr sz="1200">
              <a:latin typeface="Tahoma"/>
              <a:cs typeface="Tahoma"/>
            </a:endParaRPr>
          </a:p>
          <a:p>
            <a:pPr marL="152400" marR="523240">
              <a:lnSpc>
                <a:spcPct val="101899"/>
              </a:lnSpc>
              <a:spcBef>
                <a:spcPts val="400"/>
              </a:spcBef>
            </a:pP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equal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80">
                <a:solidFill>
                  <a:srgbClr val="1A1A2E"/>
                </a:solidFill>
                <a:latin typeface="Verdana"/>
                <a:cs typeface="Verdana"/>
              </a:rPr>
              <a:t>rights,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opportunities,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full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social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participation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with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Liberia</a:t>
            </a:r>
            <a:r>
              <a:rPr dirty="0" sz="105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05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evidence-based advocacy,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accessible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services,</a:t>
            </a:r>
            <a:r>
              <a:rPr dirty="0" sz="105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development.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6375958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6665976"/>
          <a:ext cx="6026150" cy="222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/>
                <a:gridCol w="714374"/>
                <a:gridCol w="1619884"/>
                <a:gridCol w="1268095"/>
                <a:gridCol w="745489"/>
                <a:gridCol w="1099185"/>
              </a:tblGrid>
              <a:tr h="3879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80035">
                        <a:lnSpc>
                          <a:spcPct val="102200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28384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equal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rights,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opportunities,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full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participation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persons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52729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target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accessing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least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one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service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or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referral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+30%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 marR="227965">
                        <a:lnSpc>
                          <a:spcPts val="1040"/>
                        </a:lnSpc>
                        <a:spcBef>
                          <a:spcPts val="3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 increase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58419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assistive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devices</a:t>
                      </a:r>
                      <a:r>
                        <a:rPr dirty="0" sz="850" spc="5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rehabilitation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in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target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39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receiving assistive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devices/rehabilitation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300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17780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Deliver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vocational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training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employment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tailored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needs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09550">
                        <a:lnSpc>
                          <a:spcPct val="101699"/>
                        </a:lnSpc>
                        <a:spcBef>
                          <a:spcPts val="30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completing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vocational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200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717804"/>
          <a:ext cx="6026150" cy="5066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/>
                <a:gridCol w="714374"/>
                <a:gridCol w="1619884"/>
                <a:gridCol w="1268095"/>
                <a:gridCol w="745489"/>
                <a:gridCol w="1099185"/>
              </a:tblGrid>
              <a:tr h="3886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80035">
                        <a:lnSpc>
                          <a:spcPct val="102299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08279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Advocate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rights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PWDs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in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national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policy, budgeting,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law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enforcement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3271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engagements/briefs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on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rights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19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9588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inclusive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primary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schools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serving children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7907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schools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supported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inclusive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infrastructure</a:t>
                      </a:r>
                      <a:r>
                        <a:rPr dirty="0" sz="850" spc="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or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marR="14224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schools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43434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Promote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physical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accessibility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public spaces,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markets,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facilities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77800">
                        <a:lnSpc>
                          <a:spcPct val="102099"/>
                        </a:lnSpc>
                        <a:spcBef>
                          <a:spcPts val="30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accessibility improvements facilitated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advocacy</a:t>
                      </a:r>
                      <a:r>
                        <a:rPr dirty="0" sz="850" spc="1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850" spc="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direct support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11,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14732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188595">
                        <a:lnSpc>
                          <a:spcPct val="102099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Build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volunteer</a:t>
                      </a:r>
                      <a:r>
                        <a:rPr dirty="0" sz="850" spc="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</a:t>
                      </a:r>
                      <a:r>
                        <a:rPr dirty="0" sz="850" spc="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inclusive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programming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rights-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approaches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5049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staff/volunteers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staff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 marR="138430">
                        <a:lnSpc>
                          <a:spcPct val="101200"/>
                        </a:lnSpc>
                        <a:spcBef>
                          <a:spcPts val="10"/>
                        </a:spcBef>
                      </a:pP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volunteers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48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104139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dedicated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resources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through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proposals,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campaigns,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559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DI8.1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8572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rights 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advocacy</a:t>
                      </a:r>
                      <a:r>
                        <a:rPr dirty="0" sz="850" spc="1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224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27368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3994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Mainstream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inclusion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all </a:t>
                      </a:r>
                      <a:r>
                        <a:rPr dirty="0" sz="850" spc="-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areas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731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 incorporating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inclusive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indicators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100%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2027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10,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10167" y="5864318"/>
            <a:ext cx="4961255" cy="56832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disability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inclusion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built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four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mutually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reinforcing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pillars: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960" y="6693407"/>
            <a:ext cx="5943600" cy="1134110"/>
          </a:xfrm>
          <a:prstGeom prst="rect">
            <a:avLst/>
          </a:prstGeom>
          <a:solidFill>
            <a:srgbClr val="F5F0FF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A: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2C3E50"/>
                </a:solidFill>
                <a:latin typeface="Tahoma"/>
                <a:cs typeface="Tahoma"/>
              </a:rPr>
              <a:t>Direct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Services</a:t>
            </a:r>
            <a:r>
              <a:rPr dirty="0" sz="12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and </a:t>
            </a:r>
            <a:r>
              <a:rPr dirty="0" sz="1200" spc="-65" b="1">
                <a:solidFill>
                  <a:srgbClr val="2C3E50"/>
                </a:solidFill>
                <a:latin typeface="Tahoma"/>
                <a:cs typeface="Tahoma"/>
              </a:rPr>
              <a:t>Assistive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Support</a:t>
            </a:r>
            <a:endParaRPr sz="1200">
              <a:latin typeface="Tahoma"/>
              <a:cs typeface="Tahoma"/>
            </a:endParaRPr>
          </a:p>
          <a:p>
            <a:pPr marL="152400" marR="445770">
              <a:lnSpc>
                <a:spcPct val="102200"/>
              </a:lnSpc>
              <a:spcBef>
                <a:spcPts val="395"/>
              </a:spcBef>
            </a:pPr>
            <a:r>
              <a:rPr dirty="0" sz="105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disability-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focused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partners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connect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PWDs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assistive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devices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such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wheelchairs,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crutches,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hearing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aids,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white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canes.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facilitate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rehabilitation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referrals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and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provide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community-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support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enable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PWDs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participate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economic</a:t>
            </a:r>
            <a:r>
              <a:rPr dirty="0" sz="105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social</a:t>
            </a:r>
            <a:r>
              <a:rPr dirty="0" sz="105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life.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960" y="8098535"/>
            <a:ext cx="5943600" cy="807720"/>
          </a:xfrm>
          <a:prstGeom prst="rect">
            <a:avLst/>
          </a:prstGeom>
          <a:solidFill>
            <a:srgbClr val="F0FFF4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25" b="1">
                <a:solidFill>
                  <a:srgbClr val="2C3E50"/>
                </a:solidFill>
                <a:latin typeface="Tahoma"/>
                <a:cs typeface="Tahoma"/>
              </a:rPr>
              <a:t>B: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2C3E50"/>
                </a:solidFill>
                <a:latin typeface="Tahoma"/>
                <a:cs typeface="Tahoma"/>
              </a:rPr>
              <a:t>Inclusive</a:t>
            </a:r>
            <a:r>
              <a:rPr dirty="0" sz="1200" spc="-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Education</a:t>
            </a:r>
            <a:endParaRPr sz="1200">
              <a:latin typeface="Tahoma"/>
              <a:cs typeface="Tahoma"/>
            </a:endParaRPr>
          </a:p>
          <a:p>
            <a:pPr marL="152400" marR="255904">
              <a:lnSpc>
                <a:spcPct val="101800"/>
              </a:lnSpc>
              <a:spcBef>
                <a:spcPts val="405"/>
              </a:spcBef>
            </a:pPr>
            <a:r>
              <a:rPr dirty="0" sz="105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support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primary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schools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creating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environments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children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disabilities.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2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includes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teacher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training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pedagogy,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infrastructure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22960" y="716280"/>
            <a:ext cx="5943600" cy="532130"/>
          </a:xfrm>
          <a:prstGeom prst="rect">
            <a:avLst/>
          </a:prstGeom>
          <a:solidFill>
            <a:srgbClr val="F0FFF4"/>
          </a:solidFill>
        </p:spPr>
        <p:txBody>
          <a:bodyPr wrap="square" lIns="0" tIns="97790" rIns="0" bIns="0" rtlCol="0" vert="horz">
            <a:spAutoFit/>
          </a:bodyPr>
          <a:lstStyle/>
          <a:p>
            <a:pPr marL="152400" marR="516890">
              <a:lnSpc>
                <a:spcPct val="102899"/>
              </a:lnSpc>
              <a:spcBef>
                <a:spcPts val="770"/>
              </a:spcBef>
            </a:pP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advocacy,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provision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50">
                <a:solidFill>
                  <a:srgbClr val="1A1A2E"/>
                </a:solidFill>
                <a:latin typeface="Verdana"/>
                <a:cs typeface="Verdana"/>
              </a:rPr>
              <a:t>adapted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learning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materials.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to ensure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children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only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enrolled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genuinely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included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school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life.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22960" y="1519427"/>
            <a:ext cx="5943600" cy="1298575"/>
          </a:xfrm>
          <a:prstGeom prst="rect">
            <a:avLst/>
          </a:prstGeom>
          <a:solidFill>
            <a:srgbClr val="FEF9E7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C: Vocational</a:t>
            </a:r>
            <a:r>
              <a:rPr dirty="0" sz="1200" spc="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Training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Economic</a:t>
            </a:r>
            <a:r>
              <a:rPr dirty="0" sz="1200" spc="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Inclusion</a:t>
            </a:r>
            <a:endParaRPr sz="1200">
              <a:latin typeface="Tahoma"/>
              <a:cs typeface="Tahoma"/>
            </a:endParaRPr>
          </a:p>
          <a:p>
            <a:pPr marL="152400" marR="217804">
              <a:lnSpc>
                <a:spcPct val="102400"/>
              </a:lnSpc>
              <a:spcBef>
                <a:spcPts val="395"/>
              </a:spcBef>
            </a:pP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Many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PWDs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possess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untapped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14">
                <a:solidFill>
                  <a:srgbClr val="1A1A2E"/>
                </a:solidFill>
                <a:latin typeface="Verdana"/>
                <a:cs typeface="Verdana"/>
              </a:rPr>
              <a:t>skills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entrepreneurial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potential.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design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deliver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vocational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training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programs </a:t>
            </a:r>
            <a:r>
              <a:rPr dirty="0" sz="1050" spc="45">
                <a:solidFill>
                  <a:srgbClr val="1A1A2E"/>
                </a:solidFill>
                <a:latin typeface="Verdana"/>
                <a:cs typeface="Verdana"/>
              </a:rPr>
              <a:t>adapted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specific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needs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abilities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of participants,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offering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pathways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into agriculture,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small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business,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work,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craft-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based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enterprise.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possible,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facilitate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linkages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employers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committed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05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hiring.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960" y="3089148"/>
            <a:ext cx="5943600" cy="1134110"/>
          </a:xfrm>
          <a:prstGeom prst="rect">
            <a:avLst/>
          </a:prstGeom>
          <a:solidFill>
            <a:srgbClr val="F0F4F8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75" b="1">
                <a:solidFill>
                  <a:srgbClr val="2C3E50"/>
                </a:solidFill>
                <a:latin typeface="Tahoma"/>
                <a:cs typeface="Tahoma"/>
              </a:rPr>
              <a:t>Pillar</a:t>
            </a:r>
            <a:r>
              <a:rPr dirty="0" sz="12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2C3E50"/>
                </a:solidFill>
                <a:latin typeface="Tahoma"/>
                <a:cs typeface="Tahoma"/>
              </a:rPr>
              <a:t>D:</a:t>
            </a:r>
            <a:r>
              <a:rPr dirty="0" sz="12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45" b="1">
                <a:solidFill>
                  <a:srgbClr val="2C3E50"/>
                </a:solidFill>
                <a:latin typeface="Tahoma"/>
                <a:cs typeface="Tahoma"/>
              </a:rPr>
              <a:t>Advocacy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2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2C3E50"/>
                </a:solidFill>
                <a:latin typeface="Tahoma"/>
                <a:cs typeface="Tahoma"/>
              </a:rPr>
              <a:t>Policy</a:t>
            </a:r>
            <a:r>
              <a:rPr dirty="0" sz="12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Engagement</a:t>
            </a:r>
            <a:endParaRPr sz="1200">
              <a:latin typeface="Tahoma"/>
              <a:cs typeface="Tahoma"/>
            </a:endParaRPr>
          </a:p>
          <a:p>
            <a:pPr marL="152400" marR="240029">
              <a:lnSpc>
                <a:spcPct val="102200"/>
              </a:lnSpc>
              <a:spcBef>
                <a:spcPts val="395"/>
              </a:spcBef>
            </a:pPr>
            <a:r>
              <a:rPr dirty="0" sz="1050" spc="-12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engage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national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government,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the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legislature,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rights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organizations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to</a:t>
            </a:r>
            <a:r>
              <a:rPr dirty="0" sz="105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advocate</a:t>
            </a:r>
            <a:r>
              <a:rPr dirty="0" sz="105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full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implementation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CRPD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domestic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disability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laws. </a:t>
            </a:r>
            <a:r>
              <a:rPr dirty="0" sz="1050" spc="-12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includes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producing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briefs,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participating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national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consultations,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amplifying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voices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persons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05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themselves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in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05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spaces.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167" y="4296462"/>
            <a:ext cx="6154420" cy="30841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Cross-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Integration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mainstreamed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areas.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means:</a:t>
            </a:r>
            <a:endParaRPr sz="1100">
              <a:latin typeface="Verdana"/>
              <a:cs typeface="Verdana"/>
            </a:endParaRPr>
          </a:p>
          <a:p>
            <a:pPr marL="354965" marR="406400" indent="-228600">
              <a:lnSpc>
                <a:spcPct val="102800"/>
              </a:lnSpc>
              <a:spcBef>
                <a:spcPts val="380"/>
              </a:spcBef>
              <a:buChar char="•"/>
              <a:tabLst>
                <a:tab pos="354965" algn="l"/>
              </a:tabLst>
            </a:pP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Agriculture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include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adapted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techniques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tools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for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farmers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physical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disabilities.</a:t>
            </a:r>
            <a:endParaRPr sz="1100">
              <a:latin typeface="Verdana"/>
              <a:cs typeface="Verdana"/>
            </a:endParaRPr>
          </a:p>
          <a:p>
            <a:pPr marL="354965" marR="190500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Health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PWDs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can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access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maternal,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preventive,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menstrual health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services.</a:t>
            </a:r>
            <a:endParaRPr sz="1100">
              <a:latin typeface="Verdana"/>
              <a:cs typeface="Verdana"/>
            </a:endParaRPr>
          </a:p>
          <a:p>
            <a:pPr marL="354965" marR="63500" indent="-228600">
              <a:lnSpc>
                <a:spcPct val="101899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Education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prioritize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children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disabilities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scholarship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materials distribution.</a:t>
            </a:r>
            <a:endParaRPr sz="1100">
              <a:latin typeface="Verdana"/>
              <a:cs typeface="Verdana"/>
            </a:endParaRPr>
          </a:p>
          <a:p>
            <a:pPr marL="354965" marR="245745" indent="-228600">
              <a:lnSpc>
                <a:spcPct val="102699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Fisheries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identify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opportunities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PWDs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fish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processing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market trade.</a:t>
            </a:r>
            <a:endParaRPr sz="1100">
              <a:latin typeface="Verdana"/>
              <a:cs typeface="Verdana"/>
            </a:endParaRPr>
          </a:p>
          <a:p>
            <a:pPr marL="354965" marR="28956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Gender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youth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specifically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engage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young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women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girls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disabilities.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02800"/>
              </a:lnSpc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2027,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100%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incorporate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inclusive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design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principles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dedicated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indicators.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883919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4"/>
                </a:lnTo>
                <a:lnTo>
                  <a:pt x="8723376" y="9144"/>
                </a:lnTo>
                <a:lnTo>
                  <a:pt x="87233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94" y="574065"/>
            <a:ext cx="8715375" cy="147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PROGRAM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AREA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C0392B"/>
                </a:solidFill>
                <a:latin typeface="Tahoma"/>
                <a:cs typeface="Tahoma"/>
              </a:rPr>
              <a:t>8:</a:t>
            </a:r>
            <a:r>
              <a:rPr dirty="0" sz="1600" spc="-2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C0392B"/>
                </a:solidFill>
                <a:latin typeface="Tahoma"/>
                <a:cs typeface="Tahoma"/>
              </a:rPr>
              <a:t>Partnership,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 Research,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Fundraising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Partnership,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Research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50" b="1">
                <a:solidFill>
                  <a:srgbClr val="2C3E50"/>
                </a:solidFill>
                <a:latin typeface="Tahoma"/>
                <a:cs typeface="Tahoma"/>
              </a:rPr>
              <a:t>&amp;</a:t>
            </a:r>
            <a:r>
              <a:rPr dirty="0" sz="1300" spc="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55" b="1">
                <a:solidFill>
                  <a:srgbClr val="2C3E50"/>
                </a:solidFill>
                <a:latin typeface="Tahoma"/>
                <a:cs typeface="Tahoma"/>
              </a:rPr>
              <a:t>Fundraising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Summary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5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image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presents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Partnership,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Research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functions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institutional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engine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that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makes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other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areas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possible,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summarizes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program's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overarching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objective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achieving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85">
                <a:solidFill>
                  <a:srgbClr val="1A1A2E"/>
                </a:solidFill>
                <a:latin typeface="Verdana"/>
                <a:cs typeface="Verdana"/>
              </a:rPr>
              <a:t>25%</a:t>
            </a:r>
            <a:r>
              <a:rPr dirty="0" sz="1100" spc="1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increase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partnerships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funds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mobilized,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indicators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tracking </a:t>
            </a:r>
            <a:r>
              <a:rPr dirty="0" sz="1100" spc="-16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growth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toward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90">
                <a:solidFill>
                  <a:srgbClr val="1A1A2E"/>
                </a:solidFill>
                <a:latin typeface="Verdana"/>
                <a:cs typeface="Verdana"/>
              </a:rPr>
              <a:t>$2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million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target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2029,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six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approaches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which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diverse,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resilient,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evidence-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driven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funding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partnership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base.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2103120"/>
            <a:ext cx="8692896" cy="48493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111" y="629412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4"/>
                </a:lnTo>
                <a:lnTo>
                  <a:pt x="8723376" y="9144"/>
                </a:lnTo>
                <a:lnTo>
                  <a:pt x="872337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668" y="427697"/>
            <a:ext cx="8716010" cy="141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Development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75" b="1">
                <a:solidFill>
                  <a:srgbClr val="2C3E50"/>
                </a:solidFill>
                <a:latin typeface="Tahoma"/>
                <a:cs typeface="Tahoma"/>
              </a:rPr>
              <a:t>Partnership,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Research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50" b="1">
                <a:solidFill>
                  <a:srgbClr val="2C3E50"/>
                </a:solidFill>
                <a:latin typeface="Tahoma"/>
                <a:cs typeface="Tahoma"/>
              </a:rPr>
              <a:t>&amp;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55" b="1">
                <a:solidFill>
                  <a:srgbClr val="2C3E50"/>
                </a:solidFill>
                <a:latin typeface="Tahoma"/>
                <a:cs typeface="Tahoma"/>
              </a:rPr>
              <a:t>Fundraising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2C3E50"/>
                </a:solidFill>
                <a:latin typeface="Tahoma"/>
                <a:cs typeface="Tahoma"/>
              </a:rPr>
              <a:t>Theory</a:t>
            </a:r>
            <a:r>
              <a:rPr dirty="0" sz="1300" spc="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of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Change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99"/>
              </a:lnSpc>
              <a:spcBef>
                <a:spcPts val="395"/>
              </a:spcBef>
            </a:pP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diagram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below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presents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Theory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Change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Partnership,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program,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showing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how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proposal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development,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participatory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research,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partnership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outreach,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donor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stewardship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produce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growing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volume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of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secured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funding,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formalized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partnerships,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disseminated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evidence,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ultimately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contributing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financially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sustainable,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research-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driven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whose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partnerships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multiply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reach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far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beyond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what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any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single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organization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could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achieve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alone.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7104888"/>
            <a:ext cx="8723630" cy="9525"/>
          </a:xfrm>
          <a:custGeom>
            <a:avLst/>
            <a:gdLst/>
            <a:ahLst/>
            <a:cxnLst/>
            <a:rect l="l" t="t" r="r" b="b"/>
            <a:pathLst>
              <a:path w="8723630" h="9525">
                <a:moveTo>
                  <a:pt x="8723376" y="0"/>
                </a:moveTo>
                <a:lnTo>
                  <a:pt x="0" y="0"/>
                </a:lnTo>
                <a:lnTo>
                  <a:pt x="0" y="9143"/>
                </a:lnTo>
                <a:lnTo>
                  <a:pt x="8723376" y="9143"/>
                </a:lnTo>
                <a:lnTo>
                  <a:pt x="872337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52" y="1935479"/>
            <a:ext cx="8692896" cy="47457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92857" y="6882941"/>
            <a:ext cx="622935" cy="182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Page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A2E"/>
                </a:solidFill>
                <a:latin typeface="Arial MT"/>
                <a:cs typeface="Arial MT"/>
              </a:rPr>
              <a:t>|</a:t>
            </a:r>
            <a:r>
              <a:rPr dirty="0" sz="1100" spc="-10">
                <a:solidFill>
                  <a:srgbClr val="1A1A2E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 MT"/>
                <a:cs typeface="Arial MT"/>
              </a:rPr>
              <a:t>41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167" y="478604"/>
            <a:ext cx="6154420" cy="21945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Background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Rationale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60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No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organization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achieves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lasting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isolation.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ability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serve communities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scale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depends</a:t>
            </a:r>
            <a:r>
              <a:rPr dirty="0" sz="1100" spc="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strength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partnerships,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quality</a:t>
            </a:r>
            <a:r>
              <a:rPr dirty="0" sz="1100" spc="1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our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evidence,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diversity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funding.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area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provides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institutional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infrastructure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makes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other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programs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possible.</a:t>
            </a:r>
            <a:endParaRPr sz="1100">
              <a:latin typeface="Verdana"/>
              <a:cs typeface="Verdana"/>
            </a:endParaRPr>
          </a:p>
          <a:p>
            <a:pPr algn="just" marL="12700" marR="5080">
              <a:lnSpc>
                <a:spcPct val="102400"/>
              </a:lnSpc>
              <a:spcBef>
                <a:spcPts val="390"/>
              </a:spcBef>
            </a:pP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occupies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unique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position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civil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society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landscape: we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are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local,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credible,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corruption-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resistant,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mission-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driven.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These</a:t>
            </a:r>
            <a:r>
              <a:rPr dirty="0" sz="1100" spc="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qualities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make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us</a:t>
            </a:r>
            <a:r>
              <a:rPr dirty="0" sz="1100" spc="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natural</a:t>
            </a:r>
            <a:r>
              <a:rPr dirty="0" sz="1100" spc="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partner</a:t>
            </a:r>
            <a:r>
              <a:rPr dirty="0" sz="1100" spc="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 international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NGOs,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foundations,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donors,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government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agencies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seeking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maximize 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their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investment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Liberia.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960" y="2740151"/>
            <a:ext cx="5943600" cy="970915"/>
          </a:xfrm>
          <a:prstGeom prst="rect">
            <a:avLst/>
          </a:prstGeom>
          <a:solidFill>
            <a:srgbClr val="F0F4F8"/>
          </a:solidFill>
        </p:spPr>
        <p:txBody>
          <a:bodyPr wrap="square" lIns="0" tIns="141605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15"/>
              </a:spcBef>
            </a:pP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2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Objective</a:t>
            </a:r>
            <a:r>
              <a:rPr dirty="0" sz="12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C3E50"/>
                </a:solidFill>
                <a:latin typeface="Tahoma"/>
                <a:cs typeface="Tahoma"/>
              </a:rPr>
              <a:t>(PRF1)</a:t>
            </a:r>
            <a:endParaRPr sz="1200">
              <a:latin typeface="Tahoma"/>
              <a:cs typeface="Tahoma"/>
            </a:endParaRPr>
          </a:p>
          <a:p>
            <a:pPr marL="152400" marR="269875">
              <a:lnSpc>
                <a:spcPct val="101899"/>
              </a:lnSpc>
              <a:spcBef>
                <a:spcPts val="400"/>
              </a:spcBef>
            </a:pP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2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institutional</a:t>
            </a:r>
            <a:r>
              <a:rPr dirty="0" sz="105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05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through</a:t>
            </a:r>
            <a:r>
              <a:rPr dirty="0" sz="105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05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1A1A2E"/>
                </a:solidFill>
                <a:latin typeface="Verdana"/>
                <a:cs typeface="Verdana"/>
              </a:rPr>
              <a:t>partnerships,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 evidence-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based 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research,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diversified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funding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1A1A2E"/>
                </a:solidFill>
                <a:latin typeface="Verdana"/>
                <a:cs typeface="Verdana"/>
              </a:rPr>
              <a:t>streams,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targeting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70">
                <a:solidFill>
                  <a:srgbClr val="1A1A2E"/>
                </a:solidFill>
                <a:latin typeface="Verdana"/>
                <a:cs typeface="Verdana"/>
              </a:rPr>
              <a:t>25%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05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increase</a:t>
            </a:r>
            <a:r>
              <a:rPr dirty="0" sz="105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1A1A2E"/>
                </a:solidFill>
                <a:latin typeface="Verdana"/>
                <a:cs typeface="Verdana"/>
              </a:rPr>
              <a:t>in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partnerships</a:t>
            </a:r>
            <a:r>
              <a:rPr dirty="0" sz="105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1A1A2E"/>
                </a:solidFill>
                <a:latin typeface="Verdana"/>
                <a:cs typeface="Verdana"/>
              </a:rPr>
              <a:t>funds</a:t>
            </a:r>
            <a:r>
              <a:rPr dirty="0" sz="105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1A1A2E"/>
                </a:solidFill>
                <a:latin typeface="Verdana"/>
                <a:cs typeface="Verdana"/>
              </a:rPr>
              <a:t>mobilized.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35" y="3876624"/>
            <a:ext cx="31597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Key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Program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Objectives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Indicators</a:t>
            </a:r>
            <a:endParaRPr sz="13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4166615"/>
          <a:ext cx="6026150" cy="4884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650"/>
                <a:gridCol w="715010"/>
                <a:gridCol w="1647825"/>
                <a:gridCol w="1233169"/>
                <a:gridCol w="736600"/>
                <a:gridCol w="1111250"/>
              </a:tblGrid>
              <a:tr h="3867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270510">
                        <a:lnSpc>
                          <a:spcPct val="102200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5557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institutional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</a:t>
                      </a:r>
                      <a:r>
                        <a:rPr dirty="0" sz="850" spc="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through</a:t>
                      </a:r>
                      <a:r>
                        <a:rPr dirty="0" sz="850" spc="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strategic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partnerships,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research,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diversified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funding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8638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increase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mobilized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+25%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3906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Conduct</a:t>
                      </a:r>
                      <a:r>
                        <a:rPr dirty="0" sz="850" spc="19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high-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quality research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inform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design,</a:t>
                      </a:r>
                      <a:r>
                        <a:rPr dirty="0" sz="850" spc="9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advocacy,</a:t>
                      </a:r>
                      <a:r>
                        <a:rPr dirty="0" sz="850" spc="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79375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research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studies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completed</a:t>
                      </a:r>
                      <a:r>
                        <a:rPr dirty="0" sz="850" spc="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disseminated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1717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studies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PRF3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478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Build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strategic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government,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private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sector,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civil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society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0955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new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formalized</a:t>
                      </a:r>
                      <a:r>
                        <a:rPr dirty="0" sz="8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(MOUs,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agreements)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604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Develop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implement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robust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strategy</a:t>
                      </a:r>
                      <a:r>
                        <a:rPr dirty="0" sz="8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support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 areas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3401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$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funds raised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2400"/>
                        </a:lnSpc>
                        <a:spcBef>
                          <a:spcPts val="300"/>
                        </a:spcBef>
                      </a:pP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$2M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2029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PRF5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Specific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17170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donor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engagement</a:t>
                      </a:r>
                      <a:r>
                        <a:rPr dirty="0" sz="850" spc="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relationship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397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donor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retention/satisfaction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90%+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PRF6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454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 Building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3500" marR="22161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Enhance</a:t>
                      </a:r>
                      <a:r>
                        <a:rPr dirty="0" sz="850" spc="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capacity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writing,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research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methods,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trained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1717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staff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9060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areas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1846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15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PRF7.1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52095">
                        <a:lnSpc>
                          <a:spcPct val="101800"/>
                        </a:lnSpc>
                        <a:spcBef>
                          <a:spcPts val="305"/>
                        </a:spcBef>
                      </a:pP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</a:t>
                      </a:r>
                      <a:r>
                        <a:rPr dirty="0" sz="850" spc="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 innovative</a:t>
                      </a:r>
                      <a:r>
                        <a:rPr dirty="0" sz="850" spc="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multi-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sector projects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46685">
                        <a:lnSpc>
                          <a:spcPct val="102299"/>
                        </a:lnSpc>
                        <a:spcBef>
                          <a:spcPts val="300"/>
                        </a:spcBef>
                      </a:pPr>
                      <a:r>
                        <a:rPr dirty="0" sz="850" spc="-10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#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concept</a:t>
                      </a:r>
                      <a:r>
                        <a:rPr dirty="0" sz="8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notes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submitted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1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annually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3" y="429297"/>
            <a:ext cx="322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2959" y="717804"/>
          <a:ext cx="6026150" cy="999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650"/>
                <a:gridCol w="715010"/>
                <a:gridCol w="1647825"/>
                <a:gridCol w="1233169"/>
                <a:gridCol w="736600"/>
                <a:gridCol w="1111250"/>
              </a:tblGrid>
              <a:tr h="3886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Objective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KPI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270510">
                        <a:lnSpc>
                          <a:spcPct val="102299"/>
                        </a:lnSpc>
                        <a:spcBef>
                          <a:spcPts val="395"/>
                        </a:spcBef>
                      </a:pPr>
                      <a:r>
                        <a:rPr dirty="0" sz="9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SDG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Alignment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PRF8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1780">
                        <a:lnSpc>
                          <a:spcPct val="101099"/>
                        </a:lnSpc>
                        <a:spcBef>
                          <a:spcPts val="315"/>
                        </a:spcBef>
                      </a:pP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Cross-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cutting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9865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gender</a:t>
                      </a: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 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priorities</a:t>
                      </a:r>
                      <a:r>
                        <a:rPr dirty="0" sz="850" spc="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850" spc="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embedded</a:t>
                      </a:r>
                      <a:r>
                        <a:rPr dirty="0" sz="850" spc="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 </a:t>
                      </a:r>
                      <a:r>
                        <a:rPr dirty="0" sz="8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partnerships,</a:t>
                      </a:r>
                      <a:r>
                        <a:rPr dirty="0" sz="8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research,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fundraising</a:t>
                      </a:r>
                      <a:r>
                        <a:rPr dirty="0" sz="8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efforts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7640">
                        <a:lnSpc>
                          <a:spcPct val="102000"/>
                        </a:lnSpc>
                        <a:spcBef>
                          <a:spcPts val="305"/>
                        </a:spcBef>
                      </a:pPr>
                      <a:r>
                        <a:rPr dirty="0" sz="850" spc="-2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%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proposals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integrating</a:t>
                      </a:r>
                      <a:r>
                        <a:rPr dirty="0" sz="8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 </a:t>
                      </a:r>
                      <a:r>
                        <a:rPr dirty="0" sz="8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50" spc="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100%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5,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10,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SDG</a:t>
                      </a:r>
                      <a:r>
                        <a:rPr dirty="0" sz="8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12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804672" y="4954523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167" y="1797170"/>
            <a:ext cx="6154420" cy="362331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300" spc="-25" b="1">
                <a:solidFill>
                  <a:srgbClr val="2C3E50"/>
                </a:solidFill>
                <a:latin typeface="Tahoma"/>
                <a:cs typeface="Tahoma"/>
              </a:rPr>
              <a:t>Our</a:t>
            </a:r>
            <a:r>
              <a:rPr dirty="0" sz="1300" spc="-6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Approach</a:t>
            </a:r>
            <a:endParaRPr sz="1300">
              <a:latin typeface="Tahoma"/>
              <a:cs typeface="Tahoma"/>
            </a:endParaRPr>
          </a:p>
          <a:p>
            <a:pPr marL="354965" marR="579755" indent="-228600">
              <a:lnSpc>
                <a:spcPct val="101899"/>
              </a:lnSpc>
              <a:spcBef>
                <a:spcPts val="610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Maintain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active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proposal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pipeline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minimum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15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funding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proposals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submitted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annually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areas.</a:t>
            </a:r>
            <a:endParaRPr sz="1100">
              <a:latin typeface="Verdana"/>
              <a:cs typeface="Verdana"/>
            </a:endParaRPr>
          </a:p>
          <a:p>
            <a:pPr marL="354965" marR="467359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participatory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studies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generate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actionable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evidence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for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improvement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policy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advocacy.</a:t>
            </a:r>
            <a:endParaRPr sz="1100">
              <a:latin typeface="Verdana"/>
              <a:cs typeface="Verdana"/>
            </a:endParaRPr>
          </a:p>
          <a:p>
            <a:pPr marL="354965" marR="15240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maintain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partnership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database,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tracking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MOUs,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collaborative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initiatives,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joint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reporting.</a:t>
            </a:r>
            <a:endParaRPr sz="1100">
              <a:latin typeface="Verdana"/>
              <a:cs typeface="Verdana"/>
            </a:endParaRPr>
          </a:p>
          <a:p>
            <a:pPr marL="354965" marR="51943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implement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donor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stewardship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framework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includes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regular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reporting,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site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visits,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storytelling.</a:t>
            </a:r>
            <a:endParaRPr sz="1100">
              <a:latin typeface="Verdana"/>
              <a:cs typeface="Verdana"/>
            </a:endParaRPr>
          </a:p>
          <a:p>
            <a:pPr marL="354965" marR="902335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Explore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establish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social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enterprise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ventures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that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generate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complement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grant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funding.</a:t>
            </a:r>
            <a:endParaRPr sz="1100">
              <a:latin typeface="Verdana"/>
              <a:cs typeface="Verdana"/>
            </a:endParaRPr>
          </a:p>
          <a:p>
            <a:pPr marL="354965" marR="281305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Expand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presence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national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international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platforms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raise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profile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attract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new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partners.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Cross-</a:t>
            </a: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Cutting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Themes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3600"/>
              </a:lnSpc>
              <a:spcBef>
                <a:spcPts val="1260"/>
              </a:spcBef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eight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areas,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applies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four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cross-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cutting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themes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shape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implementation,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measurement: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44</a:t>
            </a:fld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22959" y="5681471"/>
          <a:ext cx="6026150" cy="2937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35"/>
                <a:gridCol w="4545965"/>
              </a:tblGrid>
              <a:tr h="2889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Theme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Application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Across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Programs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pPr marL="75565" marR="110489">
                        <a:lnSpc>
                          <a:spcPct val="102000"/>
                        </a:lnSpc>
                        <a:spcBef>
                          <a:spcPts val="405"/>
                        </a:spcBef>
                      </a:pPr>
                      <a:r>
                        <a:rPr dirty="0" sz="95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Gender</a:t>
                      </a:r>
                      <a:r>
                        <a:rPr dirty="0" sz="950" spc="-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4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Equality</a:t>
                      </a:r>
                      <a:r>
                        <a:rPr dirty="0" sz="95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Social</a:t>
                      </a:r>
                      <a:r>
                        <a:rPr dirty="0" sz="950" spc="-1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Inclusion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93345">
                        <a:lnSpc>
                          <a:spcPct val="102099"/>
                        </a:lnSpc>
                        <a:spcBef>
                          <a:spcPts val="405"/>
                        </a:spcBef>
                      </a:pP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14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target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minimum</a:t>
                      </a:r>
                      <a:r>
                        <a:rPr dirty="0" sz="9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50%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women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youth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participation. </a:t>
                      </a:r>
                      <a:r>
                        <a:rPr dirty="0" sz="9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Disability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inclusion </a:t>
                      </a:r>
                      <a:r>
                        <a:rPr dirty="0" sz="950" spc="-1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explicitly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mainstreamed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areas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by </a:t>
                      </a:r>
                      <a:r>
                        <a:rPr dirty="0" sz="950" spc="-8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2027.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Gender-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violence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prevention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integrated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health,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education,</a:t>
                      </a:r>
                      <a:r>
                        <a:rPr dirty="0" sz="9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950" spc="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</a:t>
                      </a:r>
                      <a:r>
                        <a:rPr dirty="0" sz="9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engagement</a:t>
                      </a:r>
                      <a:r>
                        <a:rPr dirty="0" sz="9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work.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Climate</a:t>
                      </a:r>
                      <a:r>
                        <a:rPr dirty="0" sz="950" spc="-3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Resilience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98755">
                        <a:lnSpc>
                          <a:spcPct val="102099"/>
                        </a:lnSpc>
                        <a:spcBef>
                          <a:spcPts val="405"/>
                        </a:spcBef>
                      </a:pP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Agriculture, </a:t>
                      </a:r>
                      <a:r>
                        <a:rPr dirty="0" sz="9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fisheries,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environment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explicitly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adopt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climate-</a:t>
                      </a:r>
                      <a:r>
                        <a:rPr dirty="0" sz="9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smart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approaches.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vulnerability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assessments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inform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design.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advocates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9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climate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adaptation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national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policy.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699135">
                <a:tc>
                  <a:txBody>
                    <a:bodyPr/>
                    <a:lstStyle/>
                    <a:p>
                      <a:pPr marL="75565" marR="354330">
                        <a:lnSpc>
                          <a:spcPct val="102099"/>
                        </a:lnSpc>
                        <a:spcBef>
                          <a:spcPts val="405"/>
                        </a:spcBef>
                      </a:pPr>
                      <a:r>
                        <a:rPr dirty="0" sz="950" spc="-3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Localization</a:t>
                      </a:r>
                      <a:r>
                        <a:rPr dirty="0" sz="950" spc="3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Community Ownership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64465">
                        <a:lnSpc>
                          <a:spcPct val="102499"/>
                        </a:lnSpc>
                        <a:spcBef>
                          <a:spcPts val="400"/>
                        </a:spcBef>
                      </a:pP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programs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begin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scoping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assessments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consultations.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Community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members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involved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design,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monitoring,</a:t>
                      </a:r>
                      <a:r>
                        <a:rPr dirty="0" sz="9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feedback. </a:t>
                      </a:r>
                      <a:r>
                        <a:rPr dirty="0" sz="950" spc="-114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invests</a:t>
                      </a:r>
                      <a:r>
                        <a:rPr dirty="0" sz="9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local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leadership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development</a:t>
                      </a:r>
                      <a:r>
                        <a:rPr dirty="0" sz="9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as </a:t>
                      </a:r>
                      <a:r>
                        <a:rPr dirty="0" sz="950" spc="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long-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term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sustainability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strategy.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99135">
                <a:tc>
                  <a:txBody>
                    <a:bodyPr/>
                    <a:lstStyle/>
                    <a:p>
                      <a:pPr marL="75565" marR="124460">
                        <a:lnSpc>
                          <a:spcPct val="102099"/>
                        </a:lnSpc>
                        <a:spcBef>
                          <a:spcPts val="405"/>
                        </a:spcBef>
                      </a:pPr>
                      <a:r>
                        <a:rPr dirty="0" sz="950" spc="-2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Data,</a:t>
                      </a:r>
                      <a:r>
                        <a:rPr dirty="0" sz="950" spc="-4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Evidence,</a:t>
                      </a:r>
                      <a:r>
                        <a:rPr dirty="0" sz="950" spc="-4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Learning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206375">
                        <a:lnSpc>
                          <a:spcPct val="102499"/>
                        </a:lnSpc>
                        <a:spcBef>
                          <a:spcPts val="400"/>
                        </a:spcBef>
                      </a:pPr>
                      <a:r>
                        <a:rPr dirty="0" sz="950" spc="-114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BDI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maintains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robust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monitoring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evaluation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programs.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Research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findings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used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adapt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inform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policy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advocacy.</a:t>
                      </a:r>
                      <a:r>
                        <a:rPr dirty="0" sz="950" spc="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Annual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reviews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ensure</a:t>
                      </a:r>
                      <a:r>
                        <a:rPr dirty="0" sz="9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strategic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relevance</a:t>
                      </a:r>
                      <a:r>
                        <a:rPr dirty="0" sz="950" spc="-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accountability.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35" y="429297"/>
            <a:ext cx="3225800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130" b="1">
                <a:solidFill>
                  <a:srgbClr val="2C3E50"/>
                </a:solidFill>
                <a:latin typeface="Tahoma"/>
                <a:cs typeface="Tahoma"/>
              </a:rPr>
              <a:t>BDI’s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Programs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Alignment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14" b="1">
                <a:solidFill>
                  <a:srgbClr val="2C3E50"/>
                </a:solidFill>
                <a:latin typeface="Tahoma"/>
                <a:cs typeface="Tahoma"/>
              </a:rPr>
              <a:t>with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SDGs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4672" y="4660391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0167" y="4350461"/>
            <a:ext cx="6153150" cy="1117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C0392B"/>
                </a:solidFill>
                <a:latin typeface="Tahoma"/>
                <a:cs typeface="Tahoma"/>
              </a:rPr>
              <a:t>Resource</a:t>
            </a:r>
            <a:r>
              <a:rPr dirty="0" sz="1600" spc="-4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Mobilization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</a:t>
            </a: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30" b="1">
                <a:solidFill>
                  <a:srgbClr val="C0392B"/>
                </a:solidFill>
                <a:latin typeface="Tahoma"/>
                <a:cs typeface="Tahoma"/>
              </a:rPr>
              <a:t>Financial</a:t>
            </a:r>
            <a:r>
              <a:rPr dirty="0" sz="1600" spc="-3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Sustainability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02400"/>
              </a:lnSpc>
              <a:spcBef>
                <a:spcPts val="1270"/>
              </a:spcBef>
            </a:pP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has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historically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operated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an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average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budget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US$50,000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US$60,000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figure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that,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while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modest,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has</a:t>
            </a:r>
            <a:r>
              <a:rPr dirty="0" sz="1100" spc="-1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enabled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significant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results.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Looking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ahead,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ambition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scale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commensurately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Liberia's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needs.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five-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year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financial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trajectory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1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structured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follows:</a:t>
            </a:r>
            <a:endParaRPr sz="11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22959" y="5730240"/>
          <a:ext cx="6026150" cy="1795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35"/>
                <a:gridCol w="2272665"/>
                <a:gridCol w="2273935"/>
              </a:tblGrid>
              <a:tr h="2876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Period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Annual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Budget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Target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Key</a:t>
                      </a:r>
                      <a:r>
                        <a:rPr dirty="0" sz="1000" spc="-6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Milestones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950" spc="-7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2022-</a:t>
                      </a:r>
                      <a:r>
                        <a:rPr dirty="0" sz="950" spc="-8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2024</a:t>
                      </a:r>
                      <a:r>
                        <a:rPr dirty="0" sz="950" spc="6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(Baseline)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950" spc="-8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US$50,000</a:t>
                      </a:r>
                      <a:r>
                        <a:rPr dirty="0" sz="950" spc="-2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950" spc="-2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$60,000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93980">
                        <a:lnSpc>
                          <a:spcPct val="102099"/>
                        </a:lnSpc>
                        <a:spcBef>
                          <a:spcPts val="415"/>
                        </a:spcBef>
                      </a:pP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Established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operations,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trained </a:t>
                      </a:r>
                      <a:r>
                        <a:rPr dirty="0" sz="950" spc="-9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600+ </a:t>
                      </a:r>
                      <a:r>
                        <a:rPr dirty="0" sz="9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farmers,</a:t>
                      </a:r>
                      <a:r>
                        <a:rPr dirty="0" sz="950" spc="-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formed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core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partnerships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marL="75565" marR="220979">
                        <a:lnSpc>
                          <a:spcPct val="102099"/>
                        </a:lnSpc>
                        <a:spcBef>
                          <a:spcPts val="415"/>
                        </a:spcBef>
                      </a:pPr>
                      <a:r>
                        <a:rPr dirty="0" sz="950" spc="-7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2025-</a:t>
                      </a:r>
                      <a:r>
                        <a:rPr dirty="0" sz="950" spc="-8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2026</a:t>
                      </a:r>
                      <a:r>
                        <a:rPr dirty="0" sz="950" spc="6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4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(Growth </a:t>
                      </a:r>
                      <a:r>
                        <a:rPr dirty="0" sz="950" spc="-1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Phase)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US$500,000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47955">
                        <a:lnSpc>
                          <a:spcPct val="102099"/>
                        </a:lnSpc>
                        <a:spcBef>
                          <a:spcPts val="415"/>
                        </a:spcBef>
                      </a:pP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Expand</a:t>
                      </a:r>
                      <a:r>
                        <a:rPr dirty="0" sz="950" spc="-6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9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950" spc="-5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program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areas;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secure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8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first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7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multi-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year</a:t>
                      </a:r>
                      <a:r>
                        <a:rPr dirty="0" sz="950" spc="-4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grant;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launch </a:t>
                      </a: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social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enterprise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CF0F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950" spc="-7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2027-</a:t>
                      </a:r>
                      <a:r>
                        <a:rPr dirty="0" sz="950" spc="-85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2029</a:t>
                      </a:r>
                      <a:r>
                        <a:rPr dirty="0" sz="950" spc="6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(Scale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 spc="-10" b="1">
                          <a:solidFill>
                            <a:srgbClr val="2C3E50"/>
                          </a:solidFill>
                          <a:latin typeface="Tahoma"/>
                          <a:cs typeface="Tahoma"/>
                        </a:rPr>
                        <a:t>Phase)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950" spc="-8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US$1.5M</a:t>
                      </a:r>
                      <a:r>
                        <a:rPr dirty="0" sz="950" spc="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950" spc="5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$2.0M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49885">
                        <a:lnSpc>
                          <a:spcPct val="102099"/>
                        </a:lnSpc>
                        <a:spcBef>
                          <a:spcPts val="415"/>
                        </a:spcBef>
                      </a:pPr>
                      <a:r>
                        <a:rPr dirty="0" sz="950" spc="-2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Expand</a:t>
                      </a:r>
                      <a:r>
                        <a:rPr dirty="0" sz="950" spc="-4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across</a:t>
                      </a:r>
                      <a:r>
                        <a:rPr dirty="0" sz="950" spc="-2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West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Africa; </a:t>
                      </a:r>
                      <a:r>
                        <a:rPr dirty="0" sz="950" spc="-3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strengthen</a:t>
                      </a:r>
                      <a:r>
                        <a:rPr dirty="0" sz="9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institutional</a:t>
                      </a:r>
                      <a:r>
                        <a:rPr dirty="0" sz="950" spc="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6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reserves;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achieve</a:t>
                      </a:r>
                      <a:r>
                        <a:rPr dirty="0" sz="950" spc="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donor</a:t>
                      </a:r>
                      <a:r>
                        <a:rPr dirty="0" sz="950" spc="15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>
                          <a:solidFill>
                            <a:srgbClr val="1A1A2E"/>
                          </a:solidFill>
                          <a:latin typeface="Verdana"/>
                          <a:cs typeface="Verdana"/>
                        </a:rPr>
                        <a:t>diversity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52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10167" y="7606517"/>
            <a:ext cx="6012815" cy="154622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300" spc="-50" b="1">
                <a:solidFill>
                  <a:srgbClr val="2C3E50"/>
                </a:solidFill>
                <a:latin typeface="Tahoma"/>
                <a:cs typeface="Tahoma"/>
              </a:rPr>
              <a:t>Funding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50" b="1">
                <a:solidFill>
                  <a:srgbClr val="2C3E50"/>
                </a:solidFill>
                <a:latin typeface="Tahoma"/>
                <a:cs typeface="Tahoma"/>
              </a:rPr>
              <a:t>Diversification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Strategy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achieve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sustainability,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pursue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following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funding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streams:</a:t>
            </a:r>
            <a:endParaRPr sz="1100">
              <a:latin typeface="Verdana"/>
              <a:cs typeface="Verdana"/>
            </a:endParaRPr>
          </a:p>
          <a:p>
            <a:pPr marL="354965" marR="97155" indent="-228600">
              <a:lnSpc>
                <a:spcPct val="101800"/>
              </a:lnSpc>
              <a:spcBef>
                <a:spcPts val="395"/>
              </a:spcBef>
              <a:buChar char="•"/>
              <a:tabLst>
                <a:tab pos="354965" algn="l"/>
              </a:tabLst>
            </a:pP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Institutional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grants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international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foundations,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bilateral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donors,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multilateral agencies.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Multi-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year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grants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INGOs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consortium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partners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operating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Liberia.</a:t>
            </a:r>
            <a:endParaRPr sz="1100">
              <a:latin typeface="Verdana"/>
              <a:cs typeface="Verdana"/>
            </a:endParaRPr>
          </a:p>
          <a:p>
            <a:pPr marL="354965" marR="108585" indent="-228600">
              <a:lnSpc>
                <a:spcPct val="101800"/>
              </a:lnSpc>
              <a:spcBef>
                <a:spcPts val="30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Individual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corporate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philanthropy,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diaspora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giving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Liberian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abroad.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3" y="1078991"/>
            <a:ext cx="6132576" cy="299008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44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672" y="2179320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0167" y="429297"/>
            <a:ext cx="6154420" cy="8626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Arial MT"/>
              <a:cs typeface="Arial MT"/>
            </a:endParaRPr>
          </a:p>
          <a:p>
            <a:pPr marL="354965" marR="173355" indent="-228600">
              <a:lnSpc>
                <a:spcPct val="101899"/>
              </a:lnSpc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Crowdfunding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campaigns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specific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programs,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particularly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education.</a:t>
            </a:r>
            <a:endParaRPr sz="1100">
              <a:latin typeface="Verdana"/>
              <a:cs typeface="Verdana"/>
            </a:endParaRPr>
          </a:p>
          <a:p>
            <a:pPr marL="354965" marR="184150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Social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enterprise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from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research,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data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analysis,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web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graphic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design,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application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development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services.</a:t>
            </a:r>
            <a:endParaRPr sz="1100">
              <a:latin typeface="Verdana"/>
              <a:cs typeface="Verdana"/>
            </a:endParaRPr>
          </a:p>
          <a:p>
            <a:pPr marL="354965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dedicated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reserve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fund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operational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continuity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during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funding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gaps.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00" spc="-40" b="1">
                <a:solidFill>
                  <a:srgbClr val="C0392B"/>
                </a:solidFill>
                <a:latin typeface="Tahoma"/>
                <a:cs typeface="Tahoma"/>
              </a:rPr>
              <a:t>Organizational</a:t>
            </a:r>
            <a:r>
              <a:rPr dirty="0" sz="1600" spc="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C0392B"/>
                </a:solidFill>
                <a:latin typeface="Tahoma"/>
                <a:cs typeface="Tahoma"/>
              </a:rPr>
              <a:t>Systems</a:t>
            </a:r>
            <a:r>
              <a:rPr dirty="0" sz="1600" spc="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Capacity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02200"/>
              </a:lnSpc>
              <a:spcBef>
                <a:spcPts val="1275"/>
              </a:spcBef>
            </a:pPr>
            <a:r>
              <a:rPr dirty="0" sz="1100" spc="-15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long-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depends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40">
                <a:solidFill>
                  <a:srgbClr val="1A1A2E"/>
                </a:solidFill>
                <a:latin typeface="Verdana"/>
                <a:cs typeface="Verdana"/>
              </a:rPr>
              <a:t>just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quality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programs,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strength of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organization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delivering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them.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7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commits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9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significant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investment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institutional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infrastructure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four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dimensions: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Verdana"/>
              <a:cs typeface="Verdana"/>
            </a:endParaRPr>
          </a:p>
          <a:p>
            <a:pPr marL="196215" indent="-183515">
              <a:lnSpc>
                <a:spcPct val="100000"/>
              </a:lnSpc>
              <a:buAutoNum type="arabicPeriod"/>
              <a:tabLst>
                <a:tab pos="196215" algn="l"/>
              </a:tabLst>
            </a:pP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Governance</a:t>
            </a:r>
            <a:r>
              <a:rPr dirty="0" sz="1300" spc="9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8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Leadership</a:t>
            </a:r>
            <a:endParaRPr sz="1300">
              <a:latin typeface="Tahoma"/>
              <a:cs typeface="Tahoma"/>
            </a:endParaRPr>
          </a:p>
          <a:p>
            <a:pPr lvl="1" marL="354965" marR="196850" indent="-228600">
              <a:lnSpc>
                <a:spcPct val="102699"/>
              </a:lnSpc>
              <a:spcBef>
                <a:spcPts val="59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Board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effectiveness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 regular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governance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training,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performance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reviews,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clear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fiduciary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responsibilities.</a:t>
            </a:r>
            <a:endParaRPr sz="1100">
              <a:latin typeface="Verdana"/>
              <a:cs typeface="Verdana"/>
            </a:endParaRPr>
          </a:p>
          <a:p>
            <a:pPr lvl="1" marL="354965" marR="263525" indent="-228600">
              <a:lnSpc>
                <a:spcPct val="101899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Enhance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transparency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accountability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through regular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audits,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public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reports,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 adherence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 donor compliance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requirements.</a:t>
            </a:r>
            <a:endParaRPr sz="1100">
              <a:latin typeface="Verdana"/>
              <a:cs typeface="Verdana"/>
            </a:endParaRPr>
          </a:p>
          <a:p>
            <a:pPr lvl="1" marL="354965" marR="784225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succession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leadership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continuity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plans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protect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institutional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knowledge.</a:t>
            </a:r>
            <a:endParaRPr sz="1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Clr>
                <a:srgbClr val="1A1A2E"/>
              </a:buClr>
              <a:buFont typeface="Verdana"/>
              <a:buChar char="•"/>
            </a:pPr>
            <a:endParaRPr sz="1100">
              <a:latin typeface="Verdana"/>
              <a:cs typeface="Verdana"/>
            </a:endParaRPr>
          </a:p>
          <a:p>
            <a:pPr marL="196215" indent="-183515">
              <a:lnSpc>
                <a:spcPct val="100000"/>
              </a:lnSpc>
              <a:buAutoNum type="arabicPeriod"/>
              <a:tabLst>
                <a:tab pos="196215" algn="l"/>
              </a:tabLst>
            </a:pPr>
            <a:r>
              <a:rPr dirty="0" sz="1300" spc="-35" b="1">
                <a:solidFill>
                  <a:srgbClr val="2C3E50"/>
                </a:solidFill>
                <a:latin typeface="Tahoma"/>
                <a:cs typeface="Tahoma"/>
              </a:rPr>
              <a:t>Human</a:t>
            </a:r>
            <a:r>
              <a:rPr dirty="0" sz="1300" spc="-5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Resources</a:t>
            </a:r>
            <a:endParaRPr sz="1300">
              <a:latin typeface="Tahoma"/>
              <a:cs typeface="Tahoma"/>
            </a:endParaRPr>
          </a:p>
          <a:p>
            <a:pPr lvl="1" marL="354965" marR="633730" indent="-228600">
              <a:lnSpc>
                <a:spcPct val="101899"/>
              </a:lnSpc>
              <a:spcBef>
                <a:spcPts val="595"/>
              </a:spcBef>
              <a:buChar char="•"/>
              <a:tabLst>
                <a:tab pos="354965" algn="l"/>
              </a:tabLst>
            </a:pP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Recruit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retain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skilled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staff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thematic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areas,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including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dedicated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Disability</a:t>
            </a:r>
            <a:r>
              <a:rPr dirty="0" sz="1100" spc="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Inclusion</a:t>
            </a:r>
            <a:r>
              <a:rPr dirty="0" sz="1100" spc="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Officer.</a:t>
            </a:r>
            <a:endParaRPr sz="1100">
              <a:latin typeface="Verdana"/>
              <a:cs typeface="Verdana"/>
            </a:endParaRPr>
          </a:p>
          <a:p>
            <a:pPr lvl="1" marL="354965" marR="521334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Implement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structured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onboarding,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continuous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professional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development,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performance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systems.</a:t>
            </a:r>
            <a:endParaRPr sz="1100">
              <a:latin typeface="Verdana"/>
              <a:cs typeface="Verdana"/>
            </a:endParaRPr>
          </a:p>
          <a:p>
            <a:pPr lvl="1" marL="354965" marR="187325" indent="-228600">
              <a:lnSpc>
                <a:spcPct val="1018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Build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positive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organizational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culture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grounded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values,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staff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wellbeing,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psychological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safety.</a:t>
            </a:r>
            <a:endParaRPr sz="1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Clr>
                <a:srgbClr val="1A1A2E"/>
              </a:buClr>
              <a:buFont typeface="Verdana"/>
              <a:buChar char="•"/>
            </a:pPr>
            <a:endParaRPr sz="1100">
              <a:latin typeface="Verdana"/>
              <a:cs typeface="Verdana"/>
            </a:endParaRPr>
          </a:p>
          <a:p>
            <a:pPr marL="196215" indent="-18351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6215" algn="l"/>
              </a:tabLst>
            </a:pPr>
            <a:r>
              <a:rPr dirty="0" sz="1300" spc="-80" b="1">
                <a:solidFill>
                  <a:srgbClr val="2C3E50"/>
                </a:solidFill>
                <a:latin typeface="Tahoma"/>
                <a:cs typeface="Tahoma"/>
              </a:rPr>
              <a:t>Systems</a:t>
            </a:r>
            <a:r>
              <a:rPr dirty="0" sz="1300" spc="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Technology</a:t>
            </a:r>
            <a:endParaRPr sz="1300">
              <a:latin typeface="Tahoma"/>
              <a:cs typeface="Tahoma"/>
            </a:endParaRPr>
          </a:p>
          <a:p>
            <a:pPr lvl="1" marL="354965" marR="589915" indent="-228600">
              <a:lnSpc>
                <a:spcPct val="101800"/>
              </a:lnSpc>
              <a:spcBef>
                <a:spcPts val="60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Implement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digital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data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system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improve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tracking,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reporting,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decision-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making.</a:t>
            </a:r>
            <a:endParaRPr sz="1100">
              <a:latin typeface="Verdana"/>
              <a:cs typeface="Verdana"/>
            </a:endParaRPr>
          </a:p>
          <a:p>
            <a:pPr lvl="1" marL="354965" marR="386080" indent="-228600">
              <a:lnSpc>
                <a:spcPct val="101899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standardized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templates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design,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monitoring,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reporting,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communication.</a:t>
            </a:r>
            <a:endParaRPr sz="1100">
              <a:latin typeface="Verdana"/>
              <a:cs typeface="Verdana"/>
            </a:endParaRPr>
          </a:p>
          <a:p>
            <a:pPr lvl="1" marL="354965" marR="621665" indent="-228600">
              <a:lnSpc>
                <a:spcPct val="102699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Strengthen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digital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presence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website,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social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media,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donor communications.</a:t>
            </a:r>
            <a:endParaRPr sz="1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Clr>
                <a:srgbClr val="1A1A2E"/>
              </a:buClr>
              <a:buFont typeface="Verdana"/>
              <a:buChar char="•"/>
            </a:pPr>
            <a:endParaRPr sz="1100">
              <a:latin typeface="Verdana"/>
              <a:cs typeface="Verdana"/>
            </a:endParaRPr>
          </a:p>
          <a:p>
            <a:pPr marL="196215" indent="-183515">
              <a:lnSpc>
                <a:spcPct val="100000"/>
              </a:lnSpc>
              <a:buAutoNum type="arabicPeriod"/>
              <a:tabLst>
                <a:tab pos="196215" algn="l"/>
              </a:tabLst>
            </a:pPr>
            <a:r>
              <a:rPr dirty="0" sz="1300" spc="-50" b="1">
                <a:solidFill>
                  <a:srgbClr val="2C3E50"/>
                </a:solidFill>
                <a:latin typeface="Tahoma"/>
                <a:cs typeface="Tahoma"/>
              </a:rPr>
              <a:t>Monitoring,</a:t>
            </a:r>
            <a:r>
              <a:rPr dirty="0" sz="13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Evaluation,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Accountability,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Learning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(MEAL)</a:t>
            </a:r>
            <a:endParaRPr sz="1300">
              <a:latin typeface="Tahoma"/>
              <a:cs typeface="Tahoma"/>
            </a:endParaRPr>
          </a:p>
          <a:p>
            <a:pPr lvl="1" marL="354965" marR="17145" indent="-228600">
              <a:lnSpc>
                <a:spcPct val="101899"/>
              </a:lnSpc>
              <a:spcBef>
                <a:spcPts val="610"/>
              </a:spcBef>
              <a:buChar char="•"/>
              <a:tabLst>
                <a:tab pos="354965" algn="l"/>
              </a:tabLst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Establish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formal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MEAL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framework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aligned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all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indicators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defined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plan.</a:t>
            </a:r>
            <a:endParaRPr sz="1100">
              <a:latin typeface="Verdana"/>
              <a:cs typeface="Verdana"/>
            </a:endParaRPr>
          </a:p>
          <a:p>
            <a:pPr lvl="1" marL="354965" marR="457834" indent="-228600">
              <a:lnSpc>
                <a:spcPct val="102699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reviews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mid-term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evaluations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assess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progress,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document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lessons,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adjust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strategies.</a:t>
            </a:r>
            <a:endParaRPr sz="1100">
              <a:latin typeface="Verdana"/>
              <a:cs typeface="Verdana"/>
            </a:endParaRPr>
          </a:p>
          <a:p>
            <a:pPr lvl="1" marL="354965" marR="6858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Invest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staff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data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collection,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analysis,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use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ensuring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evidence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drives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improvement.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44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53" y="429297"/>
            <a:ext cx="5626735" cy="640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Arial MT"/>
              <a:cs typeface="Arial MT"/>
            </a:endParaRPr>
          </a:p>
          <a:p>
            <a:pPr marL="354965" marR="5080" indent="-228600">
              <a:lnSpc>
                <a:spcPct val="101899"/>
              </a:lnSpc>
              <a:buChar char="•"/>
              <a:tabLst>
                <a:tab pos="354965" algn="l"/>
              </a:tabLst>
            </a:pP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Publish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disseminate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research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findings,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case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studies,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impact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reports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to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contribute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sector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knowledge.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4672" y="1588008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4486655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167" y="1279677"/>
            <a:ext cx="6154420" cy="7724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Plan</a:t>
            </a:r>
            <a:r>
              <a:rPr dirty="0" sz="1600" spc="-5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Financing</a:t>
            </a:r>
            <a:endParaRPr sz="1600">
              <a:latin typeface="Tahoma"/>
              <a:cs typeface="Tahoma"/>
            </a:endParaRPr>
          </a:p>
          <a:p>
            <a:pPr marL="12700" marR="5715">
              <a:lnSpc>
                <a:spcPct val="103699"/>
              </a:lnSpc>
              <a:spcBef>
                <a:spcPts val="1240"/>
              </a:spcBef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responsibility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team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board,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CEO.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financing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principles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include:</a:t>
            </a:r>
            <a:endParaRPr sz="1100">
              <a:latin typeface="Verdana"/>
              <a:cs typeface="Verdana"/>
            </a:endParaRPr>
          </a:p>
          <a:p>
            <a:pPr marL="354965" marR="267970" indent="-228600">
              <a:lnSpc>
                <a:spcPct val="102699"/>
              </a:lnSpc>
              <a:spcBef>
                <a:spcPts val="375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Proactive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pursuit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multi-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year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funding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commitments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ensure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program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continuity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planning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stability.</a:t>
            </a:r>
            <a:endParaRPr sz="1100">
              <a:latin typeface="Verdana"/>
              <a:cs typeface="Verdana"/>
            </a:endParaRPr>
          </a:p>
          <a:p>
            <a:pPr marL="354965" marR="52705" indent="-228600">
              <a:lnSpc>
                <a:spcPct val="102699"/>
              </a:lnSpc>
              <a:spcBef>
                <a:spcPts val="285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Reduction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over-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reliance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any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single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donor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or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funding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source,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with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target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no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single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source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exceeding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80">
                <a:solidFill>
                  <a:srgbClr val="1A1A2E"/>
                </a:solidFill>
                <a:latin typeface="Verdana"/>
                <a:cs typeface="Verdana"/>
              </a:rPr>
              <a:t>35%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income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2027.</a:t>
            </a:r>
            <a:endParaRPr sz="1100">
              <a:latin typeface="Verdana"/>
              <a:cs typeface="Verdana"/>
            </a:endParaRPr>
          </a:p>
          <a:p>
            <a:pPr marL="354965" marR="71120" indent="-228600">
              <a:lnSpc>
                <a:spcPct val="101800"/>
              </a:lnSpc>
              <a:spcBef>
                <a:spcPts val="305"/>
              </a:spcBef>
              <a:buChar char="•"/>
              <a:tabLst>
                <a:tab pos="354965" algn="l"/>
              </a:tabLst>
            </a:pP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Investment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business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development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capacity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dedicated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proposal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writing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personnel.</a:t>
            </a:r>
            <a:endParaRPr sz="1100">
              <a:latin typeface="Verdana"/>
              <a:cs typeface="Verdana"/>
            </a:endParaRPr>
          </a:p>
          <a:p>
            <a:pPr marL="354965" marR="485140" indent="-228600">
              <a:lnSpc>
                <a:spcPct val="101800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Building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reputation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corruption-free,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impact-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driven,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professionally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managed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organization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as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core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fundraising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asset.</a:t>
            </a:r>
            <a:endParaRPr sz="1100">
              <a:latin typeface="Verdana"/>
              <a:cs typeface="Verdana"/>
            </a:endParaRPr>
          </a:p>
          <a:p>
            <a:pPr marL="354965" marR="396875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Regular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financial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reporting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Board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and,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required,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donors,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full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transparency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on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fund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utilization.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Clr>
                <a:srgbClr val="1A1A2E"/>
              </a:buClr>
              <a:buFont typeface="Verdana"/>
              <a:buChar char="•"/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00" spc="-60" b="1">
                <a:solidFill>
                  <a:srgbClr val="C0392B"/>
                </a:solidFill>
                <a:latin typeface="Tahoma"/>
                <a:cs typeface="Tahoma"/>
              </a:rPr>
              <a:t>Plan</a:t>
            </a:r>
            <a:r>
              <a:rPr dirty="0" sz="1600" spc="-15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Management</a:t>
            </a:r>
            <a:r>
              <a:rPr dirty="0" sz="1600" spc="-20" b="1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C0392B"/>
                </a:solidFill>
                <a:latin typeface="Tahoma"/>
                <a:cs typeface="Tahoma"/>
              </a:rPr>
              <a:t>and </a:t>
            </a:r>
            <a:r>
              <a:rPr dirty="0" sz="1600" spc="-10" b="1">
                <a:solidFill>
                  <a:srgbClr val="C0392B"/>
                </a:solidFill>
                <a:latin typeface="Tahoma"/>
                <a:cs typeface="Tahoma"/>
              </a:rPr>
              <a:t>Accountability</a:t>
            </a:r>
            <a:endParaRPr sz="1600">
              <a:latin typeface="Tahoma"/>
              <a:cs typeface="Tahoma"/>
            </a:endParaRPr>
          </a:p>
          <a:p>
            <a:pPr marL="12700" marR="5715">
              <a:lnSpc>
                <a:spcPct val="102800"/>
              </a:lnSpc>
              <a:spcBef>
                <a:spcPts val="1265"/>
              </a:spcBef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successful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implementation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11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requires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clear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ownership,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regular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review,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shared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accountability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across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organization.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Overall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Accountability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699"/>
              </a:lnSpc>
              <a:spcBef>
                <a:spcPts val="595"/>
              </a:spcBef>
            </a:pP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CEO-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Team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holds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ultimate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responsibility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implementation.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Board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Directors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provides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governance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oversight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holds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Team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accountable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progress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against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key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goals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indicators.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Annual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C3E50"/>
                </a:solidFill>
                <a:latin typeface="Tahoma"/>
                <a:cs typeface="Tahoma"/>
              </a:rPr>
              <a:t>Planning</a:t>
            </a:r>
            <a:r>
              <a:rPr dirty="0" sz="13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b="1">
                <a:solidFill>
                  <a:srgbClr val="2C3E50"/>
                </a:solidFill>
                <a:latin typeface="Tahoma"/>
                <a:cs typeface="Tahoma"/>
              </a:rPr>
              <a:t>and</a:t>
            </a:r>
            <a:r>
              <a:rPr dirty="0" sz="1300" spc="-2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60" b="1">
                <a:solidFill>
                  <a:srgbClr val="2C3E50"/>
                </a:solidFill>
                <a:latin typeface="Tahoma"/>
                <a:cs typeface="Tahoma"/>
              </a:rPr>
              <a:t>Review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 Cycle</a:t>
            </a:r>
            <a:endParaRPr sz="1300">
              <a:latin typeface="Tahoma"/>
              <a:cs typeface="Tahoma"/>
            </a:endParaRPr>
          </a:p>
          <a:p>
            <a:pPr marL="354965" marR="38100" indent="-228600">
              <a:lnSpc>
                <a:spcPct val="102299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operational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plans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developed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beginning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0">
                <a:solidFill>
                  <a:srgbClr val="1A1A2E"/>
                </a:solidFill>
                <a:latin typeface="Verdana"/>
                <a:cs typeface="Verdana"/>
              </a:rPr>
              <a:t>each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year,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translating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strategic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objectives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into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quarterly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milestones,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staff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work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plans,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budget allocations.</a:t>
            </a:r>
            <a:endParaRPr sz="1100">
              <a:latin typeface="Verdana"/>
              <a:cs typeface="Verdana"/>
            </a:endParaRPr>
          </a:p>
          <a:p>
            <a:pPr marL="354965" marR="273050" indent="-228600">
              <a:lnSpc>
                <a:spcPct val="102699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Quarterly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management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reviews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assess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progress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against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targets,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flag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emerging challenges,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enable</a:t>
            </a:r>
            <a:r>
              <a:rPr dirty="0" sz="1100" spc="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adaptive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course-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correction.</a:t>
            </a:r>
            <a:endParaRPr sz="1100">
              <a:latin typeface="Verdana"/>
              <a:cs typeface="Verdana"/>
            </a:endParaRPr>
          </a:p>
          <a:p>
            <a:pPr marL="354965" marR="260985" indent="-228600">
              <a:lnSpc>
                <a:spcPct val="1018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Annual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progress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reports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produced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Board,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donors,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communities,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documenting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results,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lessons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learned,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year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ahead.</a:t>
            </a:r>
            <a:endParaRPr sz="1100">
              <a:latin typeface="Verdana"/>
              <a:cs typeface="Verdana"/>
            </a:endParaRPr>
          </a:p>
          <a:p>
            <a:pPr marL="354965" marR="84455" indent="-228600">
              <a:lnSpc>
                <a:spcPct val="101899"/>
              </a:lnSpc>
              <a:spcBef>
                <a:spcPts val="310"/>
              </a:spcBef>
              <a:buChar char="•"/>
              <a:tabLst>
                <a:tab pos="354965" algn="l"/>
              </a:tabLst>
            </a:pP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mid-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term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review </a:t>
            </a:r>
            <a:r>
              <a:rPr dirty="0" sz="1100" spc="-7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conducted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2027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assess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overall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direction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and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make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substantive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adjustments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where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needed.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00" spc="-110" b="1">
                <a:solidFill>
                  <a:srgbClr val="2C3E50"/>
                </a:solidFill>
                <a:latin typeface="Tahoma"/>
                <a:cs typeface="Tahoma"/>
              </a:rPr>
              <a:t>Staff</a:t>
            </a:r>
            <a:r>
              <a:rPr dirty="0" sz="1300" spc="1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Responsibility</a:t>
            </a:r>
            <a:endParaRPr sz="1300">
              <a:latin typeface="Tahoma"/>
              <a:cs typeface="Tahoma"/>
            </a:endParaRPr>
          </a:p>
          <a:p>
            <a:pPr algn="just" marL="12700" marR="5080">
              <a:lnSpc>
                <a:spcPct val="102299"/>
              </a:lnSpc>
              <a:spcBef>
                <a:spcPts val="590"/>
              </a:spcBef>
            </a:pP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Every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65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staff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member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have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90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clear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understanding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their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role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within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it.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Individual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performance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objectives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6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aligned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with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program-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level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indicators,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staff will</a:t>
            </a:r>
            <a:r>
              <a:rPr dirty="0" sz="1100" spc="2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personal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action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plans</a:t>
            </a:r>
            <a:r>
              <a:rPr dirty="0" sz="1100" spc="2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2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timelines</a:t>
            </a:r>
            <a:r>
              <a:rPr dirty="0" sz="1100" spc="2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</a:t>
            </a:r>
            <a:r>
              <a:rPr dirty="0" sz="1100" spc="2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their</a:t>
            </a:r>
            <a:r>
              <a:rPr dirty="0" sz="1100" spc="2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assigned</a:t>
            </a:r>
            <a:r>
              <a:rPr dirty="0" sz="1100" spc="204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responsibilities.</a:t>
            </a:r>
            <a:r>
              <a:rPr dirty="0" sz="1100" spc="2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44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672" y="630936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4"/>
                </a:lnTo>
                <a:lnTo>
                  <a:pt x="6163056" y="9144"/>
                </a:lnTo>
                <a:lnTo>
                  <a:pt x="6163056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167" y="429297"/>
            <a:ext cx="6155055" cy="195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BASA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Development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Initiatives</a:t>
            </a:r>
            <a:r>
              <a:rPr dirty="0" sz="900" spc="-1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(BDI)</a:t>
            </a:r>
            <a:r>
              <a:rPr dirty="0" sz="900" spc="-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|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Strategic</a:t>
            </a:r>
            <a:r>
              <a:rPr dirty="0" sz="900" spc="5">
                <a:solidFill>
                  <a:srgbClr val="2C3E5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C3E50"/>
                </a:solidFill>
                <a:latin typeface="Arial MT"/>
                <a:cs typeface="Arial MT"/>
              </a:rPr>
              <a:t>Plan </a:t>
            </a:r>
            <a:r>
              <a:rPr dirty="0" sz="900" spc="-10">
                <a:solidFill>
                  <a:srgbClr val="2C3E50"/>
                </a:solidFill>
                <a:latin typeface="Arial MT"/>
                <a:cs typeface="Arial MT"/>
              </a:rPr>
              <a:t>2025-</a:t>
            </a:r>
            <a:r>
              <a:rPr dirty="0" sz="900" spc="-20">
                <a:solidFill>
                  <a:srgbClr val="2C3E50"/>
                </a:solidFill>
                <a:latin typeface="Arial MT"/>
                <a:cs typeface="Arial MT"/>
              </a:rPr>
              <a:t>2029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Arial MT"/>
              <a:cs typeface="Arial MT"/>
            </a:endParaRPr>
          </a:p>
          <a:p>
            <a:pPr algn="just" marL="12700" marR="5080">
              <a:lnSpc>
                <a:spcPct val="102699"/>
              </a:lnSpc>
              <a:spcBef>
                <a:spcPts val="5"/>
              </a:spcBef>
            </a:pP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simplified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version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of</a:t>
            </a:r>
            <a:r>
              <a:rPr dirty="0" sz="1100" spc="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this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strategic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plan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7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5">
                <a:solidFill>
                  <a:srgbClr val="1A1A2E"/>
                </a:solidFill>
                <a:latin typeface="Verdana"/>
                <a:cs typeface="Verdana"/>
              </a:rPr>
              <a:t>be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developed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local</a:t>
            </a:r>
            <a:r>
              <a:rPr dirty="0" sz="1100" spc="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language</a:t>
            </a:r>
            <a:r>
              <a:rPr dirty="0" sz="1100" spc="2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accessible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formats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ensure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staff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all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levels,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1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field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staff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17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volunteers,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understand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BDI's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direction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0">
                <a:solidFill>
                  <a:srgbClr val="1A1A2E"/>
                </a:solidFill>
                <a:latin typeface="Verdana"/>
                <a:cs typeface="Verdana"/>
              </a:rPr>
              <a:t>their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0">
                <a:solidFill>
                  <a:srgbClr val="1A1A2E"/>
                </a:solidFill>
                <a:latin typeface="Verdana"/>
                <a:cs typeface="Verdana"/>
              </a:rPr>
              <a:t>place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in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it.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spc="-30" b="1">
                <a:solidFill>
                  <a:srgbClr val="2C3E50"/>
                </a:solidFill>
                <a:latin typeface="Tahoma"/>
                <a:cs typeface="Tahoma"/>
              </a:rPr>
              <a:t>Community</a:t>
            </a:r>
            <a:r>
              <a:rPr dirty="0" sz="1300" spc="-4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C3E50"/>
                </a:solidFill>
                <a:latin typeface="Tahoma"/>
                <a:cs typeface="Tahoma"/>
              </a:rPr>
              <a:t>Accountability</a:t>
            </a:r>
            <a:endParaRPr sz="1300">
              <a:latin typeface="Tahoma"/>
              <a:cs typeface="Tahoma"/>
            </a:endParaRPr>
          </a:p>
          <a:p>
            <a:pPr algn="just" marL="12700" marR="5715">
              <a:lnSpc>
                <a:spcPct val="102699"/>
              </a:lnSpc>
              <a:spcBef>
                <a:spcPts val="595"/>
              </a:spcBef>
            </a:pPr>
            <a:r>
              <a:rPr dirty="0" sz="1100" spc="-130">
                <a:solidFill>
                  <a:srgbClr val="1A1A2E"/>
                </a:solidFill>
                <a:latin typeface="Verdana"/>
                <a:cs typeface="Verdana"/>
              </a:rPr>
              <a:t>BDI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20">
                <a:solidFill>
                  <a:srgbClr val="1A1A2E"/>
                </a:solidFill>
                <a:latin typeface="Verdana"/>
                <a:cs typeface="Verdana"/>
              </a:rPr>
              <a:t>is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accountable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not</a:t>
            </a:r>
            <a:r>
              <a:rPr dirty="0" sz="1100" spc="-10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only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donors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">
                <a:solidFill>
                  <a:srgbClr val="1A1A2E"/>
                </a:solidFill>
                <a:latin typeface="Verdana"/>
                <a:cs typeface="Verdana"/>
              </a:rPr>
              <a:t>board,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but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communities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5">
                <a:solidFill>
                  <a:srgbClr val="1A1A2E"/>
                </a:solidFill>
                <a:latin typeface="Verdana"/>
                <a:cs typeface="Verdana"/>
              </a:rPr>
              <a:t>serve.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We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65">
                <a:solidFill>
                  <a:srgbClr val="1A1A2E"/>
                </a:solidFill>
                <a:latin typeface="Verdana"/>
                <a:cs typeface="Verdana"/>
              </a:rPr>
              <a:t>will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maintain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regular</a:t>
            </a:r>
            <a:r>
              <a:rPr dirty="0" sz="1100" spc="15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feedback</a:t>
            </a:r>
            <a:r>
              <a:rPr dirty="0" sz="1100" spc="16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1A1A2E"/>
                </a:solidFill>
                <a:latin typeface="Verdana"/>
                <a:cs typeface="Verdana"/>
              </a:rPr>
              <a:t>mechanisms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including</a:t>
            </a:r>
            <a:r>
              <a:rPr dirty="0" sz="1100" spc="17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suggestion</a:t>
            </a:r>
            <a:r>
              <a:rPr dirty="0" sz="1100" spc="16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85">
                <a:solidFill>
                  <a:srgbClr val="1A1A2E"/>
                </a:solidFill>
                <a:latin typeface="Verdana"/>
                <a:cs typeface="Verdana"/>
              </a:rPr>
              <a:t>systems,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community review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1A1A2E"/>
                </a:solidFill>
                <a:latin typeface="Verdana"/>
                <a:cs typeface="Verdana"/>
              </a:rPr>
              <a:t>meetings,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5">
                <a:solidFill>
                  <a:srgbClr val="1A1A2E"/>
                </a:solidFill>
                <a:latin typeface="Verdana"/>
                <a:cs typeface="Verdana"/>
              </a:rPr>
              <a:t>grievance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procedures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35">
                <a:solidFill>
                  <a:srgbClr val="1A1A2E"/>
                </a:solidFill>
                <a:latin typeface="Verdana"/>
                <a:cs typeface="Verdana"/>
              </a:rPr>
              <a:t>-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ensuring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1A1A2E"/>
                </a:solidFill>
                <a:latin typeface="Verdana"/>
                <a:cs typeface="Verdana"/>
              </a:rPr>
              <a:t>that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Verdana"/>
                <a:cs typeface="Verdana"/>
              </a:rPr>
              <a:t>our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programming</a:t>
            </a:r>
            <a:r>
              <a:rPr dirty="0" sz="1100" spc="3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remains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1A1A2E"/>
                </a:solidFill>
                <a:latin typeface="Verdana"/>
                <a:cs typeface="Verdana"/>
              </a:rPr>
              <a:t>responsive,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Verdana"/>
                <a:cs typeface="Verdana"/>
              </a:rPr>
              <a:t>respectful,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40">
                <a:solidFill>
                  <a:srgbClr val="1A1A2E"/>
                </a:solidFill>
                <a:latin typeface="Verdana"/>
                <a:cs typeface="Verdana"/>
              </a:rPr>
              <a:t>and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Verdana"/>
                <a:cs typeface="Verdana"/>
              </a:rPr>
              <a:t>relevant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Verdana"/>
                <a:cs typeface="Verdana"/>
              </a:rPr>
              <a:t>to</a:t>
            </a:r>
            <a:r>
              <a:rPr dirty="0" sz="1100" spc="-8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the</a:t>
            </a:r>
            <a:r>
              <a:rPr dirty="0" sz="1100" spc="-95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35">
                <a:solidFill>
                  <a:srgbClr val="1A1A2E"/>
                </a:solidFill>
                <a:latin typeface="Verdana"/>
                <a:cs typeface="Verdana"/>
              </a:rPr>
              <a:t>people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10">
                <a:solidFill>
                  <a:srgbClr val="1A1A2E"/>
                </a:solidFill>
                <a:latin typeface="Verdana"/>
                <a:cs typeface="Verdana"/>
              </a:rPr>
              <a:t>at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00">
                <a:solidFill>
                  <a:srgbClr val="1A1A2E"/>
                </a:solidFill>
                <a:latin typeface="Verdana"/>
                <a:cs typeface="Verdana"/>
              </a:rPr>
              <a:t>its</a:t>
            </a:r>
            <a:r>
              <a:rPr dirty="0" sz="1100" spc="-90">
                <a:solidFill>
                  <a:srgbClr val="1A1A2E"/>
                </a:solidFill>
                <a:latin typeface="Verdana"/>
                <a:cs typeface="Verdana"/>
              </a:rPr>
              <a:t> </a:t>
            </a:r>
            <a:r>
              <a:rPr dirty="0" sz="1100" spc="-15">
                <a:solidFill>
                  <a:srgbClr val="1A1A2E"/>
                </a:solidFill>
                <a:latin typeface="Verdana"/>
                <a:cs typeface="Verdana"/>
              </a:rPr>
              <a:t>center.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9389364"/>
            <a:ext cx="6163310" cy="9525"/>
          </a:xfrm>
          <a:custGeom>
            <a:avLst/>
            <a:gdLst/>
            <a:ahLst/>
            <a:cxnLst/>
            <a:rect l="l" t="t" r="r" b="b"/>
            <a:pathLst>
              <a:path w="6163309" h="9525">
                <a:moveTo>
                  <a:pt x="6163056" y="0"/>
                </a:moveTo>
                <a:lnTo>
                  <a:pt x="0" y="0"/>
                </a:lnTo>
                <a:lnTo>
                  <a:pt x="0" y="9143"/>
                </a:lnTo>
                <a:lnTo>
                  <a:pt x="6163056" y="9143"/>
                </a:lnTo>
                <a:lnTo>
                  <a:pt x="6163056" y="0"/>
                </a:lnTo>
                <a:close/>
              </a:path>
            </a:pathLst>
          </a:custGeom>
          <a:solidFill>
            <a:srgbClr val="D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94331" y="8545913"/>
            <a:ext cx="3784600" cy="42481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1000" spc="-40" b="1">
                <a:solidFill>
                  <a:srgbClr val="2C3E50"/>
                </a:solidFill>
                <a:latin typeface="Tahoma"/>
                <a:cs typeface="Tahoma"/>
              </a:rPr>
              <a:t>BASA</a:t>
            </a:r>
            <a:r>
              <a:rPr dirty="0" sz="10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2C3E50"/>
                </a:solidFill>
                <a:latin typeface="Tahoma"/>
                <a:cs typeface="Tahoma"/>
              </a:rPr>
              <a:t>Development</a:t>
            </a:r>
            <a:r>
              <a:rPr dirty="0" sz="10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000" spc="-65" b="1">
                <a:solidFill>
                  <a:srgbClr val="2C3E50"/>
                </a:solidFill>
                <a:latin typeface="Tahoma"/>
                <a:cs typeface="Tahoma"/>
              </a:rPr>
              <a:t>Initiatives</a:t>
            </a:r>
            <a:r>
              <a:rPr dirty="0" sz="1000" spc="1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000" spc="-114" b="1">
                <a:solidFill>
                  <a:srgbClr val="2C3E50"/>
                </a:solidFill>
                <a:latin typeface="Tahoma"/>
                <a:cs typeface="Tahoma"/>
              </a:rPr>
              <a:t>(BDI)</a:t>
            </a:r>
            <a:r>
              <a:rPr dirty="0" sz="1000" b="1">
                <a:solidFill>
                  <a:srgbClr val="2C3E50"/>
                </a:solidFill>
                <a:latin typeface="Tahoma"/>
                <a:cs typeface="Tahoma"/>
              </a:rPr>
              <a:t> -</a:t>
            </a:r>
            <a:r>
              <a:rPr dirty="0" sz="10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000" spc="-35" b="1">
                <a:solidFill>
                  <a:srgbClr val="2C3E50"/>
                </a:solidFill>
                <a:latin typeface="Tahoma"/>
                <a:cs typeface="Tahoma"/>
              </a:rPr>
              <a:t>Strategic</a:t>
            </a:r>
            <a:r>
              <a:rPr dirty="0" sz="1000" spc="-5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000" spc="-30" b="1">
                <a:solidFill>
                  <a:srgbClr val="2C3E50"/>
                </a:solidFill>
                <a:latin typeface="Tahoma"/>
                <a:cs typeface="Tahoma"/>
              </a:rPr>
              <a:t>Plan</a:t>
            </a:r>
            <a:r>
              <a:rPr dirty="0" sz="1000" b="1">
                <a:solidFill>
                  <a:srgbClr val="2C3E50"/>
                </a:solidFill>
                <a:latin typeface="Tahoma"/>
                <a:cs typeface="Tahoma"/>
              </a:rPr>
              <a:t> </a:t>
            </a:r>
            <a:r>
              <a:rPr dirty="0" sz="1000" spc="-75" b="1">
                <a:solidFill>
                  <a:srgbClr val="2C3E50"/>
                </a:solidFill>
                <a:latin typeface="Tahoma"/>
                <a:cs typeface="Tahoma"/>
              </a:rPr>
              <a:t>2025-</a:t>
            </a:r>
            <a:r>
              <a:rPr dirty="0" sz="1000" spc="-20" b="1">
                <a:solidFill>
                  <a:srgbClr val="2C3E50"/>
                </a:solidFill>
                <a:latin typeface="Tahoma"/>
                <a:cs typeface="Tahoma"/>
              </a:rPr>
              <a:t>2029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900" spc="-10">
                <a:solidFill>
                  <a:srgbClr val="2C3E50"/>
                </a:solidFill>
                <a:latin typeface="Verdana"/>
                <a:cs typeface="Verdana"/>
                <a:hlinkClick r:id="rId2"/>
              </a:rPr>
              <a:t>www.basadev.org</a:t>
            </a:r>
            <a:r>
              <a:rPr dirty="0" sz="900" spc="-1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900" spc="185">
                <a:solidFill>
                  <a:srgbClr val="2C3E50"/>
                </a:solidFill>
                <a:latin typeface="Verdana"/>
                <a:cs typeface="Verdana"/>
              </a:rPr>
              <a:t>|</a:t>
            </a:r>
            <a:r>
              <a:rPr dirty="0" sz="900" spc="-25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2C3E50"/>
                </a:solidFill>
                <a:latin typeface="Verdana"/>
                <a:cs typeface="Verdana"/>
                <a:hlinkClick r:id="rId3"/>
              </a:rPr>
              <a:t>info@basadev.org</a:t>
            </a:r>
            <a:r>
              <a:rPr dirty="0" sz="900" spc="-10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900" spc="185">
                <a:solidFill>
                  <a:srgbClr val="2C3E50"/>
                </a:solidFill>
                <a:latin typeface="Verdana"/>
                <a:cs typeface="Verdana"/>
              </a:rPr>
              <a:t>|</a:t>
            </a:r>
            <a:r>
              <a:rPr dirty="0" sz="900" spc="-30">
                <a:solidFill>
                  <a:srgbClr val="2C3E5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2C3E50"/>
                </a:solidFill>
                <a:latin typeface="Verdana"/>
                <a:cs typeface="Verdana"/>
              </a:rPr>
              <a:t>Monrovia, </a:t>
            </a:r>
            <a:r>
              <a:rPr dirty="0" sz="900" spc="-10">
                <a:solidFill>
                  <a:srgbClr val="2C3E50"/>
                </a:solidFill>
                <a:latin typeface="Verdana"/>
                <a:cs typeface="Verdana"/>
              </a:rPr>
              <a:t>Liberia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dirty="0" spc="-25"/>
              <a:t> </a:t>
            </a:r>
            <a:r>
              <a:rPr dirty="0"/>
              <a:t>|</a:t>
            </a:r>
            <a:r>
              <a:rPr dirty="0" spc="-5"/>
              <a:t> </a:t>
            </a:r>
            <a:fld id="{81D60167-4931-47E6-BA6A-407CBD079E47}" type="slidenum">
              <a:rPr dirty="0" spc="-25"/>
              <a:t>44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C3E5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2026-05-30T20:26:02Z</dcterms:created>
  <dcterms:modified xsi:type="dcterms:W3CDTF">2026-05-30T20:26:02Z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2026-03-18T00:00:00Z</vt:filetime>
  </property>
  <property fmtid="{D5CDD505-2E9C-101B-9397-08002B2CF9AE}" pid="4" name="LastSaved">
    <vt:filetime>2026-05-30T00:00:00Z</vt:filetime>
  </property>
  <property fmtid="{D5CDD505-2E9C-101B-9397-08002B2CF9AE}" pid="5" name="Producer">
    <vt:lpwstr>iLovePDF</vt:lpwstr>
  </property>
</Properties>
</file>